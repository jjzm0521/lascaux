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5" r:id="rId15"/>
    <p:sldId id="266" r:id="rId16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fb78c62db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Buenas. Somos LasCaux y esto es Convite: ahorro y apoyo comunitario sobre Open Payments.</a:t>
            </a:r>
          </a:p>
        </p:txBody>
      </p:sp>
      <p:sp>
        <p:nvSpPr>
          <p:cNvPr id="1289" name="Google Shape;1289;g3fb78c62db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fb68e58610_1_26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Presentación del equipo LasCaux, con la foto del equipo.</a:t>
            </a:r>
          </a:p>
        </p:txBody>
      </p:sp>
      <p:sp>
        <p:nvSpPr>
          <p:cNvPr id="1297" name="Google Shape;1297;g3fb68e58610_1_26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Hablamos de una economía que transcurre de forma muy informal, pero que mueve plata y ayuda a la comunidad. Hay más de 1.500 círculos solidarios y cerca de 7.400 millones de pesos día a día en Medellín: miles de personas hacen microtransacciones mediante corporaciones como Fomentamos. Lo usan jóvenes emprendedores, madres cabeza de familia (cerca del 90 % de las personas beneficiadas), adultos mayores y personas en el extranjero. Son efectos que ya se conocen y se han probado. Queremos crear una plataforma sobre la cual puedan expandirse y que facilite muchos de los elementos que ya tienen.</a:t>
            </a:r>
          </a:p>
          <a:p/>
          <a:p>
            <a:r>
              <a:t>VERIFICAR ANTES DE PRESENTAR la fuente de las cifras (1.500 círculos, 7.400 millones al día, 90 %). Si vienen del reto o de Fomentamos, decirlo en voz alta. Una búsqueda rápida no las confirmó.</a:t>
            </a:r>
          </a:p>
        </p:txBody>
      </p:sp>
      <p:sp>
        <p:nvSpPr>
          <p:cNvPr id="1402" name="Google Shape;14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Generamos un flujo de dinero saludable para el comercio y el día a día de sus integrantes, usando estructuras de recaudación comunitaria como las natilleras, las cadenas y los círculos solidarios, que han demostrado su efectividad a lo largo de los años.</a:t>
            </a:r>
          </a:p>
        </p:txBody>
      </p:sp>
      <p:sp>
        <p:nvSpPr>
          <p:cNvPr id="1409" name="Google Shape;14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En Convite los utilizamos y los elevamos: los integramos y los traducimos a la red, ofreciendo trazabilidad y transparencia, y ampliando el acceso a este mercado de oportunidades a muchas más personas.</a:t>
            </a:r>
          </a:p>
          <a:p/>
          <a:p>
            <a:r>
              <a:t>Sugerencia: la versión original decía "seguridad". Hoy la caja es la billetera de una persona y las aprobaciones son una regla del grupo, no un candado; por eso es más honesto decir trazabilidad y transparencia, y dejar la custodia como siguiente paso.</a:t>
            </a:r>
          </a:p>
        </p:txBody>
      </p:sp>
      <p:sp>
        <p:nvSpPr>
          <p:cNvPr id="1414" name="Google Shape;14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fb68e58610_1_3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Convite lleva estas estructuras a la red. La plata entra: cada persona paga desde su billetera y en su moneda. La plata se ve: todos ven la caja, el libro y la parte de cada quien. Y la plata sale solo cuando el grupo lo aprueba. La app coordina; no guarda el dinero.</a:t>
            </a:r>
          </a:p>
          <a:p/>
          <a:p>
            <a:r>
              <a:t>Aquí sigue la parte técnica, que se muestra en el video.</a:t>
            </a:r>
          </a:p>
        </p:txBody>
      </p:sp>
      <p:sp>
        <p:nvSpPr>
          <p:cNvPr id="1419" name="Google Shape;1419;g3fb68e58610_1_3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Anuncio del video (sí conviene anunciarlo en una frase): "A continuación, un pago paso a paso: solicitud, autorización, ejecución y éxito." El video dura 43 segundos y trae subtítulos en español e inglés.</a:t>
            </a:r>
          </a:p>
        </p:txBody>
      </p:sp>
      <p:sp>
        <p:nvSpPr>
          <p:cNvPr id="1426" name="Google Shape;14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Desde LasCaux quedamos muy satisfechos con el trabajo de estos días: un espacio muy cómodo para el aprendizaje, el desarrollo y la integración de ideas. Fue muy satisfactorio tener un problema, una idea y trabajar en equipo para resolverlos. Nosotros, y desde hace mucho tiempo la comunidad, estamos listos para dar este paso. ¿Ustedes también? Muchas gracias.</a:t>
            </a:r>
          </a:p>
          <a:p/>
          <a:p>
            <a:r>
              <a:t>Si quieren una diapositiva de "aprendizaje clave" más explícita, agréguenla antes de esta con una sola frase.</a:t>
            </a:r>
          </a:p>
        </p:txBody>
      </p:sp>
      <p:sp>
        <p:nvSpPr>
          <p:cNvPr id="1431" name="Google Shape;14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Aquí se reproduce convite-demo-pago-v6-en.mp4 (43 s, 1080p, con subtítulos en español e inglés). En PowerPoint arranca solo al llegar a la diapositiva.</a:t>
            </a:r>
          </a:p>
          <a:p/>
          <a:p>
            <a:r>
              <a:t>IMPORTANTE para Google Slides: no conserva videos incrustados al importar un .pptx. Borren este video y vuelvan a insertarlo con Insertar &gt; Video &gt; Google Drive (suban primero el archivo a Drive). Luego, con el video seleccionado: Opciones de formato &gt; Reproducción de video &gt; marcar "Reproducir automáticamente al presentar". Sin eso no arranca al avanzar con las flechas.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Quedan muchas cosas por hacer y no se hacen solas. Las más importantes: una custodia real de la caja, verificar los aportes contra la billetera de la caja, intereses y préstamos con reglas claras, y verificación de identidad.</a:t>
            </a:r>
          </a:p>
          <a:p/>
          <a:p>
            <a:r>
              <a:t>Esta diapositiva es una propuesta: solo incluye lo que el proyecto ya reconoce como siguiente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hyperlink" Target="http://interledger.org" TargetMode="Externa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hyperlink" Target="http://interledger.org" TargetMode="Externa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36201" y="1636170"/>
            <a:ext cx="5439809" cy="228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656622" y="4032642"/>
            <a:ext cx="5219383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>
            <p:ph idx="3" type="body"/>
          </p:nvPr>
        </p:nvSpPr>
        <p:spPr>
          <a:xfrm>
            <a:off x="549322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4" type="body"/>
          </p:nvPr>
        </p:nvSpPr>
        <p:spPr>
          <a:xfrm>
            <a:off x="2408168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2"/>
          <p:cNvGrpSpPr/>
          <p:nvPr/>
        </p:nvGrpSpPr>
        <p:grpSpPr>
          <a:xfrm>
            <a:off x="0" y="5218315"/>
            <a:ext cx="2600323" cy="385327"/>
            <a:chOff x="0" y="9303775"/>
            <a:chExt cx="8073390" cy="1196350"/>
          </a:xfrm>
        </p:grpSpPr>
        <p:sp>
          <p:nvSpPr>
            <p:cNvPr id="21" name="Google Shape;21;p2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6338369" y="198227"/>
            <a:ext cx="5098934" cy="5117897"/>
          </a:xfrm>
          <a:custGeom>
            <a:rect b="b" l="l" r="r" t="t"/>
            <a:pathLst>
              <a:path extrusionOk="0" h="7026275" w="7000240">
                <a:moveTo>
                  <a:pt x="0" y="0"/>
                </a:moveTo>
                <a:lnTo>
                  <a:pt x="0" y="7025843"/>
                </a:lnTo>
                <a:lnTo>
                  <a:pt x="7000062" y="3498443"/>
                </a:lnTo>
                <a:lnTo>
                  <a:pt x="0" y="0"/>
                </a:lnTo>
                <a:close/>
              </a:path>
            </a:pathLst>
          </a:custGeom>
          <a:solidFill>
            <a:srgbClr val="5606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oogle Shape;25;p2"/>
          <p:cNvGrpSpPr/>
          <p:nvPr/>
        </p:nvGrpSpPr>
        <p:grpSpPr>
          <a:xfrm>
            <a:off x="6512282" y="485759"/>
            <a:ext cx="5679715" cy="5117897"/>
            <a:chOff x="6512282" y="198234"/>
            <a:chExt cx="5679715" cy="5117897"/>
          </a:xfrm>
        </p:grpSpPr>
        <p:sp>
          <p:nvSpPr>
            <p:cNvPr id="26" name="Google Shape;26;p2"/>
            <p:cNvSpPr/>
            <p:nvPr/>
          </p:nvSpPr>
          <p:spPr>
            <a:xfrm flipH="1">
              <a:off x="6512282" y="198234"/>
              <a:ext cx="4925023" cy="5117897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11437148" y="198234"/>
              <a:ext cx="754849" cy="5114660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" name="Google Shape;28;p2"/>
          <p:cNvSpPr txBox="1"/>
          <p:nvPr/>
        </p:nvSpPr>
        <p:spPr>
          <a:xfrm>
            <a:off x="7989100" y="6007900"/>
            <a:ext cx="34482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777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777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" name="Google Shape;32;p3"/>
          <p:cNvSpPr/>
          <p:nvPr>
            <p:ph idx="3" type="pic"/>
          </p:nvPr>
        </p:nvSpPr>
        <p:spPr>
          <a:xfrm>
            <a:off x="401921" y="1491414"/>
            <a:ext cx="4320000" cy="4320000"/>
          </a:xfrm>
          <a:prstGeom prst="roundRect">
            <a:avLst>
              <a:gd fmla="val 188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3"/>
          <p:cNvSpPr txBox="1"/>
          <p:nvPr>
            <p:ph idx="4" type="body"/>
          </p:nvPr>
        </p:nvSpPr>
        <p:spPr>
          <a:xfrm>
            <a:off x="5688471" y="180099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5" type="body"/>
          </p:nvPr>
        </p:nvSpPr>
        <p:spPr>
          <a:xfrm>
            <a:off x="5688471" y="260873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6" type="body"/>
          </p:nvPr>
        </p:nvSpPr>
        <p:spPr>
          <a:xfrm>
            <a:off x="5688471" y="341647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7" type="body"/>
          </p:nvPr>
        </p:nvSpPr>
        <p:spPr>
          <a:xfrm>
            <a:off x="5688471" y="422421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8" type="body"/>
          </p:nvPr>
        </p:nvSpPr>
        <p:spPr>
          <a:xfrm>
            <a:off x="5688471" y="503195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38" name="Google Shape;38;p3"/>
          <p:cNvCxnSpPr/>
          <p:nvPr/>
        </p:nvCxnSpPr>
        <p:spPr>
          <a:xfrm rot="10800000">
            <a:off x="5242644" y="2439113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" name="Google Shape;39;p3"/>
          <p:cNvCxnSpPr/>
          <p:nvPr/>
        </p:nvCxnSpPr>
        <p:spPr>
          <a:xfrm rot="10800000">
            <a:off x="5242644" y="3247312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" name="Google Shape;40;p3"/>
          <p:cNvCxnSpPr/>
          <p:nvPr/>
        </p:nvCxnSpPr>
        <p:spPr>
          <a:xfrm rot="10800000">
            <a:off x="5242644" y="4055513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" name="Google Shape;41;p3"/>
          <p:cNvCxnSpPr/>
          <p:nvPr/>
        </p:nvCxnSpPr>
        <p:spPr>
          <a:xfrm rot="10800000">
            <a:off x="5242644" y="4863714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" name="Google Shape;42;p3"/>
          <p:cNvSpPr txBox="1"/>
          <p:nvPr>
            <p:ph idx="9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descr="Arrow: Straight with solid fill" id="43" name="Google Shape;43;p3"/>
          <p:cNvSpPr/>
          <p:nvPr/>
        </p:nvSpPr>
        <p:spPr>
          <a:xfrm flipH="1">
            <a:off x="5264386" y="185917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4" name="Google Shape;44;p3"/>
          <p:cNvSpPr/>
          <p:nvPr/>
        </p:nvSpPr>
        <p:spPr>
          <a:xfrm flipH="1">
            <a:off x="5264386" y="266691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5" name="Google Shape;45;p3"/>
          <p:cNvSpPr/>
          <p:nvPr/>
        </p:nvSpPr>
        <p:spPr>
          <a:xfrm flipH="1">
            <a:off x="5264386" y="3473732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6" name="Google Shape;46;p3"/>
          <p:cNvSpPr/>
          <p:nvPr/>
        </p:nvSpPr>
        <p:spPr>
          <a:xfrm flipH="1">
            <a:off x="5264386" y="428239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7" name="Google Shape;47;p3"/>
          <p:cNvSpPr/>
          <p:nvPr/>
        </p:nvSpPr>
        <p:spPr>
          <a:xfrm flipH="1">
            <a:off x="5264386" y="5084003"/>
            <a:ext cx="355363" cy="355363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3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9" name="Google Shape;49;p3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0" name="Google Shape;50;p3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" name="Google Shape;54;p3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" name="Google Shape;55;p3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6" name="Google Shape;56;p3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0" name="Google Shape;60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3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3" name="Google Shape;63;p3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2" name="Google Shape;72;p3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3" name="Google Shape;73;p3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9" name="Google Shape;79;p3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2" name="Google Shape;82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" name="Google Shape;83;p3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5" name="Google Shape;85;p3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86" name="Google Shape;86;p3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9" name="Google Shape;89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" name="Google Shape;90;p3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2" name="Google Shape;92;p3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93" name="Google Shape;93;p3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5" name="Google Shape;95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" name="Google Shape;96;p3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97" name="Google Shape;97;p3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1" name="Google Shape;101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" name="Google Shape;102;p3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8" name="Google Shape;108;p3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09" name="Google Shape;109;p3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11" name="Google Shape;111;p3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2" name="Google Shape;112;p3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13" name="Google Shape;113;p3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8" name="Google Shape;118;p3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1" name="Google Shape;121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" name="Google Shape;122;p3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8" name="Google Shape;128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3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1" name="Google Shape;131;p3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32" name="Google Shape;132;p3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4" name="Google Shape;134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7" name="Google Shape;137;p4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8" name="Google Shape;138;p4"/>
          <p:cNvSpPr txBox="1"/>
          <p:nvPr>
            <p:ph idx="3" type="body"/>
          </p:nvPr>
        </p:nvSpPr>
        <p:spPr>
          <a:xfrm>
            <a:off x="813514" y="2249093"/>
            <a:ext cx="3311918" cy="271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3BA2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A3BA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9" name="Google Shape;139;p4"/>
          <p:cNvSpPr txBox="1"/>
          <p:nvPr>
            <p:ph idx="4" type="body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0" name="Google Shape;140;p4"/>
          <p:cNvSpPr txBox="1"/>
          <p:nvPr>
            <p:ph idx="5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41" name="Google Shape;141;p4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142" name="Google Shape;142;p4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143" name="Google Shape;143;p4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47" name="Google Shape;147;p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" name="Google Shape;148;p4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53" name="Google Shape;153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" name="Google Shape;154;p4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6" name="Google Shape;156;p4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65" name="Google Shape;165;p4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66" name="Google Shape;166;p4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75" name="Google Shape;175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4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8" name="Google Shape;178;p4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179" name="Google Shape;179;p4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2" name="Google Shape;182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4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85" name="Google Shape;185;p4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86" name="Google Shape;186;p4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8" name="Google Shape;188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9" name="Google Shape;189;p4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94" name="Google Shape;194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" name="Google Shape;195;p4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96" name="Google Shape;196;p4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01" name="Google Shape;201;p4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02" name="Google Shape;202;p4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04" name="Google Shape;204;p4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05" name="Google Shape;205;p4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06" name="Google Shape;206;p4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1" name="Google Shape;211;p4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212" name="Google Shape;212;p4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14" name="Google Shape;214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" name="Google Shape;215;p4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7" name="Google Shape;217;p4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218" name="Google Shape;218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1" name="Google Shape;221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4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24" name="Google Shape;224;p4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225" name="Google Shape;225;p4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7" name="Google Shape;227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p5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1" name="Google Shape;231;p5"/>
          <p:cNvSpPr txBox="1"/>
          <p:nvPr>
            <p:ph idx="3" type="body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2" name="Google Shape;232;p5"/>
          <p:cNvSpPr txBox="1"/>
          <p:nvPr>
            <p:ph idx="4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233" name="Google Shape;233;p5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234" name="Google Shape;234;p5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235" name="Google Shape;235;p5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39" name="Google Shape;239;p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5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45" name="Google Shape;245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" name="Google Shape;246;p5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2" name="Google Shape;252;p5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54" name="Google Shape;254;p5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255" name="Google Shape;255;p5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57" name="Google Shape;257;p5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58" name="Google Shape;258;p5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259" name="Google Shape;259;p5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64" name="Google Shape;264;p5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67" name="Google Shape;267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" name="Google Shape;268;p5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0" name="Google Shape;270;p5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271" name="Google Shape;271;p5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74" name="Google Shape;274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5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7" name="Google Shape;277;p5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278" name="Google Shape;278;p5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80" name="Google Shape;280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1" name="Google Shape;281;p5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282" name="Google Shape;282;p5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86" name="Google Shape;286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7" name="Google Shape;287;p5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3" name="Google Shape;293;p5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94" name="Google Shape;294;p5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96" name="Google Shape;296;p5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97" name="Google Shape;297;p5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98" name="Google Shape;298;p5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1" name="Google Shape;301;p5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3" name="Google Shape;303;p5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04" name="Google Shape;304;p5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06" name="Google Shape;306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7" name="Google Shape;307;p5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9" name="Google Shape;309;p5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310" name="Google Shape;310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3" name="Google Shape;31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" name="Google Shape;314;p5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5" name="Google Shape;315;p5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16" name="Google Shape;316;p5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317" name="Google Shape;317;p5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8" name="Google Shape;318;p5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9" name="Google Shape;319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 1">
  <p:cSld name="9_Title Slide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6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6"/>
          <p:cNvSpPr txBox="1"/>
          <p:nvPr>
            <p:ph idx="3" type="body"/>
          </p:nvPr>
        </p:nvSpPr>
        <p:spPr>
          <a:xfrm>
            <a:off x="4823917" y="2249092"/>
            <a:ext cx="60915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4" name="Google Shape;324;p6"/>
          <p:cNvSpPr txBox="1"/>
          <p:nvPr>
            <p:ph idx="4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25" name="Google Shape;325;p6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326" name="Google Shape;326;p6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327" name="Google Shape;327;p6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8" name="Google Shape;328;p6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9" name="Google Shape;329;p6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0" name="Google Shape;330;p6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31" name="Google Shape;331;p6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2" name="Google Shape;332;p6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333" name="Google Shape;333;p6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37" name="Google Shape;337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p6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0" name="Google Shape;340;p6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341" name="Google Shape;341;p6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3" name="Google Shape;343;p6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4" name="Google Shape;344;p6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6" name="Google Shape;346;p6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347" name="Google Shape;347;p6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8" name="Google Shape;348;p6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49" name="Google Shape;349;p6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0" name="Google Shape;350;p6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351" name="Google Shape;351;p6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2" name="Google Shape;352;p6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3" name="Google Shape;353;p6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5" name="Google Shape;355;p6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6" name="Google Shape;356;p6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357" name="Google Shape;357;p6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59" name="Google Shape;359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0" name="Google Shape;360;p6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2" name="Google Shape;362;p6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363" name="Google Shape;363;p6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66" name="Google Shape;366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" name="Google Shape;367;p6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9" name="Google Shape;369;p6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370" name="Google Shape;370;p6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72" name="Google Shape;372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3" name="Google Shape;373;p6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374" name="Google Shape;374;p6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7" name="Google Shape;377;p6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78" name="Google Shape;378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9" name="Google Shape;379;p6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380" name="Google Shape;380;p6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2" name="Google Shape;382;p6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3" name="Google Shape;383;p6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85" name="Google Shape;385;p6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386" name="Google Shape;386;p6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7" name="Google Shape;387;p6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88" name="Google Shape;388;p6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9" name="Google Shape;389;p6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390" name="Google Shape;390;p6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1" name="Google Shape;391;p6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2" name="Google Shape;392;p6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3" name="Google Shape;393;p6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4" name="Google Shape;394;p6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95" name="Google Shape;395;p6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96" name="Google Shape;396;p6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7" name="Google Shape;397;p6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98" name="Google Shape;398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" name="Google Shape;399;p6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0" name="Google Shape;400;p6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1" name="Google Shape;401;p6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402" name="Google Shape;402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3" name="Google Shape;403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05" name="Google Shape;405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6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8" name="Google Shape;408;p6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409" name="Google Shape;409;p6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11" name="Google Shape;411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4" name="Google Shape;414;p7"/>
          <p:cNvGrpSpPr/>
          <p:nvPr/>
        </p:nvGrpSpPr>
        <p:grpSpPr>
          <a:xfrm>
            <a:off x="8337" y="435776"/>
            <a:ext cx="6964298" cy="5986447"/>
            <a:chOff x="8337" y="435776"/>
            <a:chExt cx="6964298" cy="5986447"/>
          </a:xfrm>
        </p:grpSpPr>
        <p:sp>
          <p:nvSpPr>
            <p:cNvPr id="415" name="Google Shape;415;p7"/>
            <p:cNvSpPr/>
            <p:nvPr/>
          </p:nvSpPr>
          <p:spPr>
            <a:xfrm>
              <a:off x="740405" y="435776"/>
              <a:ext cx="4945969" cy="4964471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740399" y="435781"/>
              <a:ext cx="4777276" cy="4964471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8346" y="5397005"/>
              <a:ext cx="5939080" cy="1025218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284373" y="5639361"/>
              <a:ext cx="5419941" cy="524581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8337" y="435781"/>
              <a:ext cx="6964298" cy="5986423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0" name="Google Shape;420;p7"/>
          <p:cNvSpPr txBox="1"/>
          <p:nvPr>
            <p:ph idx="1" type="body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7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2" name="Google Shape;42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775" y="5554397"/>
            <a:ext cx="2582976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Slide">
  <p:cSld name="17_Title Slide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rgbClr val="EAEC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5" name="Google Shape;425;p8"/>
          <p:cNvGrpSpPr/>
          <p:nvPr/>
        </p:nvGrpSpPr>
        <p:grpSpPr>
          <a:xfrm>
            <a:off x="8337" y="435776"/>
            <a:ext cx="6964298" cy="5986447"/>
            <a:chOff x="9728" y="1922335"/>
            <a:chExt cx="8126730" cy="6985662"/>
          </a:xfrm>
        </p:grpSpPr>
        <p:sp>
          <p:nvSpPr>
            <p:cNvPr id="426" name="Google Shape;426;p8"/>
            <p:cNvSpPr/>
            <p:nvPr/>
          </p:nvSpPr>
          <p:spPr>
            <a:xfrm>
              <a:off x="863988" y="1922335"/>
              <a:ext cx="5771515" cy="5793105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863981" y="1922341"/>
              <a:ext cx="5574665" cy="5793105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9738" y="7711657"/>
              <a:ext cx="6930390" cy="1196340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331838" y="7994465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9728" y="1922341"/>
              <a:ext cx="8126730" cy="6985634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31" name="Google Shape;431;p8"/>
          <p:cNvSpPr txBox="1"/>
          <p:nvPr>
            <p:ph idx="1" type="body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2" name="Google Shape;432;p8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33" name="Google Shape;43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858" y="5568090"/>
            <a:ext cx="2582893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9"/>
          <p:cNvSpPr txBox="1"/>
          <p:nvPr>
            <p:ph idx="1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9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438" name="Google Shape;438;p9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39" name="Google Shape;439;p9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440" name="Google Shape;440;p9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1" name="Google Shape;441;p9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2" name="Google Shape;442;p9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3" name="Google Shape;443;p9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44" name="Google Shape;444;p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5" name="Google Shape;445;p9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446" name="Google Shape;446;p9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7" name="Google Shape;447;p9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8" name="Google Shape;448;p9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9" name="Google Shape;449;p9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50" name="Google Shape;450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1" name="Google Shape;451;p9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2" name="Google Shape;452;p9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3" name="Google Shape;453;p9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454" name="Google Shape;454;p9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5" name="Google Shape;455;p9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6" name="Google Shape;456;p9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7" name="Google Shape;457;p9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8" name="Google Shape;458;p9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9" name="Google Shape;459;p9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460" name="Google Shape;460;p9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1" name="Google Shape;461;p9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462" name="Google Shape;462;p9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63" name="Google Shape;463;p9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464" name="Google Shape;464;p9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5" name="Google Shape;465;p9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8" name="Google Shape;468;p9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69" name="Google Shape;469;p9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72" name="Google Shape;472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3" name="Google Shape;473;p9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75" name="Google Shape;475;p9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476" name="Google Shape;476;p9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79" name="Google Shape;479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0" name="Google Shape;480;p9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82" name="Google Shape;482;p9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483" name="Google Shape;483;p9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85" name="Google Shape;485;p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6" name="Google Shape;486;p9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487" name="Google Shape;487;p9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91" name="Google Shape;491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2" name="Google Shape;492;p9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493" name="Google Shape;493;p9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98" name="Google Shape;498;p9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499" name="Google Shape;499;p9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01" name="Google Shape;501;p9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02" name="Google Shape;502;p9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503" name="Google Shape;503;p9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08" name="Google Shape;508;p9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509" name="Google Shape;509;p9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11" name="Google Shape;511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2" name="Google Shape;512;p9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18" name="Google Shape;518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9" name="Google Shape;519;p9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21" name="Google Shape;521;p9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522" name="Google Shape;522;p9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24" name="Google Shape;524;p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25" name="Google Shape;52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9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"/>
          <p:cNvSpPr txBox="1"/>
          <p:nvPr>
            <p:ph idx="1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29" name="Google Shape;529;p10"/>
          <p:cNvSpPr txBox="1"/>
          <p:nvPr>
            <p:ph idx="2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530" name="Google Shape;530;p10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531" name="Google Shape;531;p10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32" name="Google Shape;532;p10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3" name="Google Shape;533;p10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4" name="Google Shape;534;p10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5" name="Google Shape;535;p10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36" name="Google Shape;536;p10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7" name="Google Shape;537;p10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38" name="Google Shape;538;p10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9" name="Google Shape;539;p10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0" name="Google Shape;540;p10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1" name="Google Shape;541;p10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2" name="Google Shape;542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3" name="Google Shape;543;p10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4" name="Google Shape;544;p10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45" name="Google Shape;545;p10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546" name="Google Shape;546;p10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7" name="Google Shape;547;p10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8" name="Google Shape;548;p10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9" name="Google Shape;549;p10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0" name="Google Shape;550;p10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51" name="Google Shape;551;p10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552" name="Google Shape;552;p10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3" name="Google Shape;553;p10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54" name="Google Shape;554;p10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55" name="Google Shape;555;p10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556" name="Google Shape;556;p10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7" name="Google Shape;557;p10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8" name="Google Shape;558;p10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9" name="Google Shape;559;p10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0" name="Google Shape;560;p10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1" name="Google Shape;561;p10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562" name="Google Shape;562;p10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3" name="Google Shape;563;p10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64" name="Google Shape;564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5" name="Google Shape;565;p10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6" name="Google Shape;566;p10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7" name="Google Shape;567;p10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568" name="Google Shape;568;p10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9" name="Google Shape;569;p10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1" name="Google Shape;571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2" name="Google Shape;572;p10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3" name="Google Shape;573;p10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74" name="Google Shape;574;p10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575" name="Google Shape;575;p10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6" name="Google Shape;576;p10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7" name="Google Shape;577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8" name="Google Shape;578;p10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579" name="Google Shape;579;p10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0" name="Google Shape;580;p10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1" name="Google Shape;581;p10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2" name="Google Shape;582;p10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83" name="Google Shape;583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4" name="Google Shape;584;p10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585" name="Google Shape;585;p10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6" name="Google Shape;586;p10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7" name="Google Shape;587;p10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8" name="Google Shape;588;p10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9" name="Google Shape;589;p10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90" name="Google Shape;590;p10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591" name="Google Shape;591;p10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2" name="Google Shape;592;p10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93" name="Google Shape;593;p10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94" name="Google Shape;594;p10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595" name="Google Shape;595;p10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6" name="Google Shape;596;p10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7" name="Google Shape;597;p10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8" name="Google Shape;598;p10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9" name="Google Shape;599;p10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0" name="Google Shape;600;p10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601" name="Google Shape;601;p10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2" name="Google Shape;602;p10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03" name="Google Shape;603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4" name="Google Shape;604;p10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5" name="Google Shape;605;p10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6" name="Google Shape;606;p10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607" name="Google Shape;607;p10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8" name="Google Shape;608;p10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9" name="Google Shape;609;p10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0" name="Google Shape;610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1" name="Google Shape;611;p10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2" name="Google Shape;612;p10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13" name="Google Shape;613;p10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614" name="Google Shape;614;p10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5" name="Google Shape;615;p10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6" name="Google Shape;616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>
  <p:cSld name="15_Title Slide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1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rgbClr val="4815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11"/>
          <p:cNvSpPr txBox="1"/>
          <p:nvPr/>
        </p:nvSpPr>
        <p:spPr>
          <a:xfrm>
            <a:off x="4043999" y="2761025"/>
            <a:ext cx="40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4000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000">
              <a:solidFill>
                <a:srgbClr val="FFA8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11"/>
          <p:cNvSpPr txBox="1"/>
          <p:nvPr/>
        </p:nvSpPr>
        <p:spPr>
          <a:xfrm>
            <a:off x="6924350" y="5397300"/>
            <a:ext cx="476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750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https://interledger.org/es/</a:t>
            </a:r>
            <a:r>
              <a:rPr b="1" lang="en-MY" sz="1750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Hackathon</a:t>
            </a:r>
            <a:endParaRPr b="1" sz="175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750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#OpenPayments </a:t>
            </a:r>
            <a:r>
              <a:rPr b="1" lang="en-MY" sz="1750">
                <a:solidFill>
                  <a:srgbClr val="FFA915"/>
                </a:solidFill>
                <a:latin typeface="Poppins"/>
                <a:ea typeface="Poppins"/>
                <a:cs typeface="Poppins"/>
                <a:sym typeface="Poppins"/>
              </a:rPr>
              <a:t>#ILPHacks</a:t>
            </a:r>
            <a:endParaRPr b="1" sz="175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8346" y="5397298"/>
            <a:ext cx="5942809" cy="1025862"/>
          </a:xfrm>
          <a:custGeom>
            <a:rect b="b" l="l" r="r" t="t"/>
            <a:pathLst>
              <a:path extrusionOk="0" h="1196340" w="6930390">
                <a:moveTo>
                  <a:pt x="6930385" y="0"/>
                </a:moveTo>
                <a:lnTo>
                  <a:pt x="0" y="0"/>
                </a:lnTo>
                <a:lnTo>
                  <a:pt x="0" y="1195974"/>
                </a:lnTo>
                <a:lnTo>
                  <a:pt x="6930385" y="1195974"/>
                </a:lnTo>
                <a:lnTo>
                  <a:pt x="6930385" y="0"/>
                </a:lnTo>
                <a:close/>
              </a:path>
            </a:pathLst>
          </a:custGeom>
          <a:solidFill>
            <a:srgbClr val="FFA91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284386" y="5639664"/>
            <a:ext cx="5423344" cy="524910"/>
          </a:xfrm>
          <a:custGeom>
            <a:rect b="b" l="l" r="r" t="t"/>
            <a:pathLst>
              <a:path extrusionOk="0" h="612140" w="6324600">
                <a:moveTo>
                  <a:pt x="394309" y="305930"/>
                </a:moveTo>
                <a:lnTo>
                  <a:pt x="0" y="0"/>
                </a:lnTo>
                <a:lnTo>
                  <a:pt x="0" y="611860"/>
                </a:lnTo>
                <a:lnTo>
                  <a:pt x="394309" y="305930"/>
                </a:lnTo>
                <a:close/>
              </a:path>
              <a:path extrusionOk="0" h="612140" w="6324600">
                <a:moveTo>
                  <a:pt x="933411" y="305930"/>
                </a:moveTo>
                <a:lnTo>
                  <a:pt x="539115" y="0"/>
                </a:lnTo>
                <a:lnTo>
                  <a:pt x="539115" y="611860"/>
                </a:lnTo>
                <a:lnTo>
                  <a:pt x="933411" y="305930"/>
                </a:lnTo>
                <a:close/>
              </a:path>
              <a:path extrusionOk="0" h="612140" w="6324600">
                <a:moveTo>
                  <a:pt x="1472526" y="305930"/>
                </a:moveTo>
                <a:lnTo>
                  <a:pt x="1078217" y="0"/>
                </a:lnTo>
                <a:lnTo>
                  <a:pt x="1078217" y="611860"/>
                </a:lnTo>
                <a:lnTo>
                  <a:pt x="1472526" y="305930"/>
                </a:lnTo>
                <a:close/>
              </a:path>
              <a:path extrusionOk="0" h="612140" w="6324600">
                <a:moveTo>
                  <a:pt x="2011629" y="305930"/>
                </a:moveTo>
                <a:lnTo>
                  <a:pt x="1617332" y="0"/>
                </a:lnTo>
                <a:lnTo>
                  <a:pt x="1617332" y="611860"/>
                </a:lnTo>
                <a:lnTo>
                  <a:pt x="2011629" y="305930"/>
                </a:lnTo>
                <a:close/>
              </a:path>
              <a:path extrusionOk="0" h="612140" w="6324600">
                <a:moveTo>
                  <a:pt x="2550744" y="305930"/>
                </a:moveTo>
                <a:lnTo>
                  <a:pt x="2156434" y="0"/>
                </a:lnTo>
                <a:lnTo>
                  <a:pt x="2156434" y="611860"/>
                </a:lnTo>
                <a:lnTo>
                  <a:pt x="2550744" y="305930"/>
                </a:lnTo>
                <a:close/>
              </a:path>
              <a:path extrusionOk="0" h="612140" w="6324600">
                <a:moveTo>
                  <a:pt x="3089846" y="305930"/>
                </a:moveTo>
                <a:lnTo>
                  <a:pt x="2695549" y="0"/>
                </a:lnTo>
                <a:lnTo>
                  <a:pt x="2695549" y="611860"/>
                </a:lnTo>
                <a:lnTo>
                  <a:pt x="3089846" y="305930"/>
                </a:lnTo>
                <a:close/>
              </a:path>
              <a:path extrusionOk="0" h="612140" w="6324600">
                <a:moveTo>
                  <a:pt x="3628961" y="305930"/>
                </a:moveTo>
                <a:lnTo>
                  <a:pt x="3234664" y="0"/>
                </a:lnTo>
                <a:lnTo>
                  <a:pt x="3234664" y="611860"/>
                </a:lnTo>
                <a:lnTo>
                  <a:pt x="3628961" y="305930"/>
                </a:lnTo>
                <a:close/>
              </a:path>
              <a:path extrusionOk="0" h="612140" w="6324600">
                <a:moveTo>
                  <a:pt x="4168063" y="305930"/>
                </a:moveTo>
                <a:lnTo>
                  <a:pt x="3773767" y="0"/>
                </a:lnTo>
                <a:lnTo>
                  <a:pt x="3773767" y="611860"/>
                </a:lnTo>
                <a:lnTo>
                  <a:pt x="4168063" y="305930"/>
                </a:lnTo>
                <a:close/>
              </a:path>
              <a:path extrusionOk="0" h="612140" w="6324600">
                <a:moveTo>
                  <a:pt x="4707179" y="305930"/>
                </a:moveTo>
                <a:lnTo>
                  <a:pt x="4312882" y="0"/>
                </a:lnTo>
                <a:lnTo>
                  <a:pt x="4312882" y="611860"/>
                </a:lnTo>
                <a:lnTo>
                  <a:pt x="4707179" y="305930"/>
                </a:lnTo>
                <a:close/>
              </a:path>
              <a:path extrusionOk="0" h="612140" w="6324600">
                <a:moveTo>
                  <a:pt x="5246281" y="305930"/>
                </a:moveTo>
                <a:lnTo>
                  <a:pt x="4851984" y="0"/>
                </a:lnTo>
                <a:lnTo>
                  <a:pt x="4851984" y="611860"/>
                </a:lnTo>
                <a:lnTo>
                  <a:pt x="5246281" y="305930"/>
                </a:lnTo>
                <a:close/>
              </a:path>
              <a:path extrusionOk="0" h="612140" w="6324600">
                <a:moveTo>
                  <a:pt x="5785396" y="305930"/>
                </a:moveTo>
                <a:lnTo>
                  <a:pt x="5391099" y="0"/>
                </a:lnTo>
                <a:lnTo>
                  <a:pt x="5391099" y="611860"/>
                </a:lnTo>
                <a:lnTo>
                  <a:pt x="5785396" y="305930"/>
                </a:lnTo>
                <a:close/>
              </a:path>
              <a:path extrusionOk="0" h="612140" w="6324600">
                <a:moveTo>
                  <a:pt x="6324498" y="305930"/>
                </a:moveTo>
                <a:lnTo>
                  <a:pt x="5930201" y="0"/>
                </a:lnTo>
                <a:lnTo>
                  <a:pt x="5930201" y="611860"/>
                </a:lnTo>
                <a:lnTo>
                  <a:pt x="6324498" y="305930"/>
                </a:lnTo>
                <a:close/>
              </a:path>
            </a:pathLst>
          </a:custGeom>
          <a:solidFill>
            <a:srgbClr val="56077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8337" y="435854"/>
            <a:ext cx="6968671" cy="5990181"/>
          </a:xfrm>
          <a:custGeom>
            <a:rect b="b" l="l" r="r" t="t"/>
            <a:pathLst>
              <a:path extrusionOk="0" h="6985634" w="8126730">
                <a:moveTo>
                  <a:pt x="854252" y="0"/>
                </a:moveTo>
                <a:lnTo>
                  <a:pt x="0" y="0"/>
                </a:lnTo>
                <a:lnTo>
                  <a:pt x="0" y="211988"/>
                </a:lnTo>
                <a:lnTo>
                  <a:pt x="854252" y="211988"/>
                </a:lnTo>
                <a:lnTo>
                  <a:pt x="854252" y="0"/>
                </a:lnTo>
                <a:close/>
              </a:path>
              <a:path extrusionOk="0" h="6985634" w="8126730">
                <a:moveTo>
                  <a:pt x="854265" y="5596331"/>
                </a:moveTo>
                <a:lnTo>
                  <a:pt x="12" y="5596331"/>
                </a:lnTo>
                <a:lnTo>
                  <a:pt x="12" y="5792660"/>
                </a:lnTo>
                <a:lnTo>
                  <a:pt x="854265" y="5792660"/>
                </a:lnTo>
                <a:lnTo>
                  <a:pt x="854265" y="5596331"/>
                </a:lnTo>
                <a:close/>
              </a:path>
              <a:path extrusionOk="0" h="6985634" w="8126730">
                <a:moveTo>
                  <a:pt x="854265" y="5165839"/>
                </a:moveTo>
                <a:lnTo>
                  <a:pt x="12" y="5165839"/>
                </a:lnTo>
                <a:lnTo>
                  <a:pt x="12" y="5363375"/>
                </a:lnTo>
                <a:lnTo>
                  <a:pt x="854265" y="5363375"/>
                </a:lnTo>
                <a:lnTo>
                  <a:pt x="854265" y="5165839"/>
                </a:lnTo>
                <a:close/>
              </a:path>
              <a:path extrusionOk="0" h="6985634" w="8126730">
                <a:moveTo>
                  <a:pt x="854265" y="4735360"/>
                </a:moveTo>
                <a:lnTo>
                  <a:pt x="12" y="4735360"/>
                </a:lnTo>
                <a:lnTo>
                  <a:pt x="12" y="4934102"/>
                </a:lnTo>
                <a:lnTo>
                  <a:pt x="854265" y="4934102"/>
                </a:lnTo>
                <a:lnTo>
                  <a:pt x="854265" y="4735360"/>
                </a:lnTo>
                <a:close/>
              </a:path>
              <a:path extrusionOk="0" h="6985634" w="8126730">
                <a:moveTo>
                  <a:pt x="854265" y="4304881"/>
                </a:moveTo>
                <a:lnTo>
                  <a:pt x="12" y="4304881"/>
                </a:lnTo>
                <a:lnTo>
                  <a:pt x="12" y="4504817"/>
                </a:lnTo>
                <a:lnTo>
                  <a:pt x="854265" y="4504817"/>
                </a:lnTo>
                <a:lnTo>
                  <a:pt x="854265" y="4304881"/>
                </a:lnTo>
                <a:close/>
              </a:path>
              <a:path extrusionOk="0" h="6985634" w="8126730">
                <a:moveTo>
                  <a:pt x="854265" y="3874389"/>
                </a:moveTo>
                <a:lnTo>
                  <a:pt x="12" y="3874389"/>
                </a:lnTo>
                <a:lnTo>
                  <a:pt x="12" y="4075531"/>
                </a:lnTo>
                <a:lnTo>
                  <a:pt x="854265" y="4075531"/>
                </a:lnTo>
                <a:lnTo>
                  <a:pt x="854265" y="3874389"/>
                </a:lnTo>
                <a:close/>
              </a:path>
              <a:path extrusionOk="0" h="6985634" w="8126730">
                <a:moveTo>
                  <a:pt x="854265" y="3443897"/>
                </a:moveTo>
                <a:lnTo>
                  <a:pt x="12" y="3443897"/>
                </a:lnTo>
                <a:lnTo>
                  <a:pt x="12" y="3646246"/>
                </a:lnTo>
                <a:lnTo>
                  <a:pt x="854265" y="3646246"/>
                </a:lnTo>
                <a:lnTo>
                  <a:pt x="854265" y="3443897"/>
                </a:lnTo>
                <a:close/>
              </a:path>
              <a:path extrusionOk="0" h="6985634" w="8126730">
                <a:moveTo>
                  <a:pt x="854265" y="3013405"/>
                </a:moveTo>
                <a:lnTo>
                  <a:pt x="12" y="3013405"/>
                </a:lnTo>
                <a:lnTo>
                  <a:pt x="12" y="3216960"/>
                </a:lnTo>
                <a:lnTo>
                  <a:pt x="854265" y="3216960"/>
                </a:lnTo>
                <a:lnTo>
                  <a:pt x="854265" y="3013405"/>
                </a:lnTo>
                <a:close/>
              </a:path>
              <a:path extrusionOk="0" h="6985634" w="8126730">
                <a:moveTo>
                  <a:pt x="854265" y="2582926"/>
                </a:moveTo>
                <a:lnTo>
                  <a:pt x="12" y="2582926"/>
                </a:lnTo>
                <a:lnTo>
                  <a:pt x="12" y="2787688"/>
                </a:lnTo>
                <a:lnTo>
                  <a:pt x="854265" y="2787688"/>
                </a:lnTo>
                <a:lnTo>
                  <a:pt x="854265" y="2582926"/>
                </a:lnTo>
                <a:close/>
              </a:path>
              <a:path extrusionOk="0" h="6985634" w="8126730">
                <a:moveTo>
                  <a:pt x="854265" y="2152434"/>
                </a:moveTo>
                <a:lnTo>
                  <a:pt x="12" y="2152434"/>
                </a:lnTo>
                <a:lnTo>
                  <a:pt x="12" y="2358402"/>
                </a:lnTo>
                <a:lnTo>
                  <a:pt x="854265" y="2358402"/>
                </a:lnTo>
                <a:lnTo>
                  <a:pt x="854265" y="2152434"/>
                </a:lnTo>
                <a:close/>
              </a:path>
              <a:path extrusionOk="0" h="6985634" w="8126730">
                <a:moveTo>
                  <a:pt x="854265" y="1721942"/>
                </a:moveTo>
                <a:lnTo>
                  <a:pt x="12" y="1721942"/>
                </a:lnTo>
                <a:lnTo>
                  <a:pt x="12" y="1929117"/>
                </a:lnTo>
                <a:lnTo>
                  <a:pt x="854265" y="1929117"/>
                </a:lnTo>
                <a:lnTo>
                  <a:pt x="854265" y="1721942"/>
                </a:lnTo>
                <a:close/>
              </a:path>
              <a:path extrusionOk="0" h="6985634" w="8126730">
                <a:moveTo>
                  <a:pt x="854265" y="1291463"/>
                </a:moveTo>
                <a:lnTo>
                  <a:pt x="12" y="1291463"/>
                </a:lnTo>
                <a:lnTo>
                  <a:pt x="12" y="1499831"/>
                </a:lnTo>
                <a:lnTo>
                  <a:pt x="854265" y="1499831"/>
                </a:lnTo>
                <a:lnTo>
                  <a:pt x="854265" y="1291463"/>
                </a:lnTo>
                <a:close/>
              </a:path>
              <a:path extrusionOk="0" h="6985634" w="8126730">
                <a:moveTo>
                  <a:pt x="854265" y="860983"/>
                </a:moveTo>
                <a:lnTo>
                  <a:pt x="12" y="860983"/>
                </a:lnTo>
                <a:lnTo>
                  <a:pt x="12" y="1070559"/>
                </a:lnTo>
                <a:lnTo>
                  <a:pt x="854265" y="1070559"/>
                </a:lnTo>
                <a:lnTo>
                  <a:pt x="854265" y="860983"/>
                </a:lnTo>
                <a:close/>
              </a:path>
              <a:path extrusionOk="0" h="6985634" w="8126730">
                <a:moveTo>
                  <a:pt x="854265" y="430491"/>
                </a:moveTo>
                <a:lnTo>
                  <a:pt x="12" y="430491"/>
                </a:lnTo>
                <a:lnTo>
                  <a:pt x="12" y="641273"/>
                </a:lnTo>
                <a:lnTo>
                  <a:pt x="854265" y="641273"/>
                </a:lnTo>
                <a:lnTo>
                  <a:pt x="854265" y="430491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789320"/>
                </a:lnTo>
                <a:lnTo>
                  <a:pt x="6930390" y="584168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935827"/>
                </a:lnTo>
                <a:lnTo>
                  <a:pt x="6930390" y="5984633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082322"/>
                </a:lnTo>
                <a:lnTo>
                  <a:pt x="6930390" y="6127585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228829"/>
                </a:lnTo>
                <a:lnTo>
                  <a:pt x="6930390" y="6270536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375349"/>
                </a:lnTo>
                <a:lnTo>
                  <a:pt x="6930390" y="6413487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521844"/>
                </a:lnTo>
                <a:lnTo>
                  <a:pt x="6930390" y="6556438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668351"/>
                </a:lnTo>
                <a:lnTo>
                  <a:pt x="6930390" y="669940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814858"/>
                </a:lnTo>
                <a:lnTo>
                  <a:pt x="6930390" y="6842341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961365"/>
                </a:lnTo>
                <a:lnTo>
                  <a:pt x="6930390" y="6985292"/>
                </a:lnTo>
                <a:lnTo>
                  <a:pt x="8126362" y="5789320"/>
                </a:lnTo>
                <a:close/>
              </a:path>
            </a:pathLst>
          </a:custGeom>
          <a:solidFill>
            <a:srgbClr val="90A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4" name="Google Shape;62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p12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8" name="Google Shape;628;p12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29" name="Google Shape;629;p1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30" name="Google Shape;630;p12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1" name="Google Shape;631;p12"/>
          <p:cNvSpPr txBox="1"/>
          <p:nvPr>
            <p:ph idx="4" type="body"/>
          </p:nvPr>
        </p:nvSpPr>
        <p:spPr>
          <a:xfrm>
            <a:off x="2408168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32" name="Google Shape;63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12"/>
          <p:cNvGrpSpPr/>
          <p:nvPr/>
        </p:nvGrpSpPr>
        <p:grpSpPr>
          <a:xfrm>
            <a:off x="0" y="5218448"/>
            <a:ext cx="2600439" cy="385344"/>
            <a:chOff x="0" y="9303775"/>
            <a:chExt cx="8073390" cy="1196350"/>
          </a:xfrm>
        </p:grpSpPr>
        <p:sp>
          <p:nvSpPr>
            <p:cNvPr id="634" name="Google Shape;634;p12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7" name="Google Shape;637;p12"/>
          <p:cNvGrpSpPr/>
          <p:nvPr/>
        </p:nvGrpSpPr>
        <p:grpSpPr>
          <a:xfrm>
            <a:off x="6344628" y="487055"/>
            <a:ext cx="5847372" cy="5116588"/>
            <a:chOff x="6344628" y="928827"/>
            <a:chExt cx="5847372" cy="5116588"/>
          </a:xfrm>
        </p:grpSpPr>
        <p:sp>
          <p:nvSpPr>
            <p:cNvPr id="638" name="Google Shape;638;p12"/>
            <p:cNvSpPr/>
            <p:nvPr/>
          </p:nvSpPr>
          <p:spPr>
            <a:xfrm flipH="1">
              <a:off x="6344628" y="928827"/>
              <a:ext cx="5092675" cy="5111615"/>
            </a:xfrm>
            <a:custGeom>
              <a:rect b="b" l="l" r="r" t="t"/>
              <a:pathLst>
                <a:path extrusionOk="0" h="7026275" w="7000240">
                  <a:moveTo>
                    <a:pt x="0" y="0"/>
                  </a:moveTo>
                  <a:lnTo>
                    <a:pt x="0" y="7025843"/>
                  </a:lnTo>
                  <a:lnTo>
                    <a:pt x="7000062" y="3498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67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9" name="Google Shape;639;p12"/>
            <p:cNvSpPr/>
            <p:nvPr/>
          </p:nvSpPr>
          <p:spPr>
            <a:xfrm flipH="1">
              <a:off x="6518328" y="933582"/>
              <a:ext cx="4918977" cy="5111615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0" name="Google Shape;640;p12"/>
            <p:cNvSpPr/>
            <p:nvPr/>
          </p:nvSpPr>
          <p:spPr>
            <a:xfrm flipH="1">
              <a:off x="11438075" y="933582"/>
              <a:ext cx="753922" cy="5108381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641" name="Google Shape;641;p12"/>
            <p:cNvPicPr preferRelativeResize="0"/>
            <p:nvPr/>
          </p:nvPicPr>
          <p:blipFill rotWithShape="1">
            <a:blip r:embed="rId3">
              <a:alphaModFix/>
            </a:blip>
            <a:srcRect b="2856" l="0" r="0" t="0"/>
            <a:stretch/>
          </p:blipFill>
          <p:spPr>
            <a:xfrm flipH="1">
              <a:off x="6813518" y="1877725"/>
              <a:ext cx="5314701" cy="4125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12"/>
            <p:cNvSpPr/>
            <p:nvPr/>
          </p:nvSpPr>
          <p:spPr>
            <a:xfrm flipH="1">
              <a:off x="7022230" y="5871298"/>
              <a:ext cx="5169770" cy="174117"/>
            </a:xfrm>
            <a:custGeom>
              <a:rect b="b" l="l" r="r" t="t"/>
              <a:pathLst>
                <a:path extrusionOk="0" h="1450975" w="8406130">
                  <a:moveTo>
                    <a:pt x="8405774" y="0"/>
                  </a:moveTo>
                  <a:lnTo>
                    <a:pt x="0" y="0"/>
                  </a:lnTo>
                  <a:lnTo>
                    <a:pt x="12" y="1450581"/>
                  </a:lnTo>
                  <a:lnTo>
                    <a:pt x="8405774" y="1450581"/>
                  </a:lnTo>
                  <a:lnTo>
                    <a:pt x="840577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14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49" name="Google Shape;649;p14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50" name="Google Shape;650;p14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51" name="Google Shape;651;p14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52" name="Google Shape;652;p14"/>
          <p:cNvSpPr txBox="1"/>
          <p:nvPr>
            <p:ph idx="4" type="body"/>
          </p:nvPr>
        </p:nvSpPr>
        <p:spPr>
          <a:xfrm>
            <a:off x="2408168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53" name="Google Shape;6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4" name="Google Shape;654;p14"/>
          <p:cNvGrpSpPr/>
          <p:nvPr/>
        </p:nvGrpSpPr>
        <p:grpSpPr>
          <a:xfrm>
            <a:off x="0" y="5218448"/>
            <a:ext cx="2600439" cy="385344"/>
            <a:chOff x="0" y="9303775"/>
            <a:chExt cx="8073390" cy="1196350"/>
          </a:xfrm>
        </p:grpSpPr>
        <p:sp>
          <p:nvSpPr>
            <p:cNvPr id="655" name="Google Shape;655;p14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58" name="Google Shape;658;p14"/>
          <p:cNvSpPr/>
          <p:nvPr/>
        </p:nvSpPr>
        <p:spPr>
          <a:xfrm flipH="1">
            <a:off x="6344628" y="198227"/>
            <a:ext cx="5092675" cy="5111615"/>
          </a:xfrm>
          <a:custGeom>
            <a:rect b="b" l="l" r="r" t="t"/>
            <a:pathLst>
              <a:path extrusionOk="0" h="7026275" w="7000240">
                <a:moveTo>
                  <a:pt x="0" y="0"/>
                </a:moveTo>
                <a:lnTo>
                  <a:pt x="0" y="7025843"/>
                </a:lnTo>
                <a:lnTo>
                  <a:pt x="7000062" y="3498443"/>
                </a:lnTo>
                <a:lnTo>
                  <a:pt x="0" y="0"/>
                </a:lnTo>
                <a:close/>
              </a:path>
            </a:pathLst>
          </a:custGeom>
          <a:solidFill>
            <a:srgbClr val="5606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59" name="Google Shape;659;p14"/>
          <p:cNvGrpSpPr/>
          <p:nvPr/>
        </p:nvGrpSpPr>
        <p:grpSpPr>
          <a:xfrm>
            <a:off x="6518328" y="485759"/>
            <a:ext cx="5673669" cy="5111615"/>
            <a:chOff x="6518328" y="198234"/>
            <a:chExt cx="5673669" cy="5111615"/>
          </a:xfrm>
        </p:grpSpPr>
        <p:sp>
          <p:nvSpPr>
            <p:cNvPr id="660" name="Google Shape;660;p14"/>
            <p:cNvSpPr/>
            <p:nvPr/>
          </p:nvSpPr>
          <p:spPr>
            <a:xfrm flipH="1">
              <a:off x="6518328" y="198234"/>
              <a:ext cx="4918977" cy="5111615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1" name="Google Shape;661;p14"/>
            <p:cNvSpPr/>
            <p:nvPr/>
          </p:nvSpPr>
          <p:spPr>
            <a:xfrm flipH="1">
              <a:off x="11438075" y="198234"/>
              <a:ext cx="753922" cy="5108381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62" name="Google Shape;662;p14"/>
          <p:cNvSpPr txBox="1"/>
          <p:nvPr/>
        </p:nvSpPr>
        <p:spPr>
          <a:xfrm>
            <a:off x="7989100" y="6007900"/>
            <a:ext cx="34482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5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5" name="Google Shape;665;p15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777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777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6" name="Google Shape;666;p15"/>
          <p:cNvSpPr/>
          <p:nvPr>
            <p:ph idx="3" type="pic"/>
          </p:nvPr>
        </p:nvSpPr>
        <p:spPr>
          <a:xfrm>
            <a:off x="401921" y="1491414"/>
            <a:ext cx="4320000" cy="4320000"/>
          </a:xfrm>
          <a:prstGeom prst="roundRect">
            <a:avLst>
              <a:gd fmla="val 188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67" name="Google Shape;667;p15"/>
          <p:cNvSpPr txBox="1"/>
          <p:nvPr>
            <p:ph idx="4" type="body"/>
          </p:nvPr>
        </p:nvSpPr>
        <p:spPr>
          <a:xfrm>
            <a:off x="5688471" y="180099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5" type="body"/>
          </p:nvPr>
        </p:nvSpPr>
        <p:spPr>
          <a:xfrm>
            <a:off x="5688471" y="260873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6" type="body"/>
          </p:nvPr>
        </p:nvSpPr>
        <p:spPr>
          <a:xfrm>
            <a:off x="5688471" y="341647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7" type="body"/>
          </p:nvPr>
        </p:nvSpPr>
        <p:spPr>
          <a:xfrm>
            <a:off x="5688471" y="422421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8" type="body"/>
          </p:nvPr>
        </p:nvSpPr>
        <p:spPr>
          <a:xfrm>
            <a:off x="5688471" y="503195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72" name="Google Shape;672;p15"/>
          <p:cNvCxnSpPr/>
          <p:nvPr/>
        </p:nvCxnSpPr>
        <p:spPr>
          <a:xfrm rot="10800000">
            <a:off x="5242536" y="2439114"/>
            <a:ext cx="5836800" cy="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73" name="Google Shape;673;p15"/>
          <p:cNvCxnSpPr/>
          <p:nvPr/>
        </p:nvCxnSpPr>
        <p:spPr>
          <a:xfrm rot="10800000">
            <a:off x="5242536" y="3247313"/>
            <a:ext cx="5836800" cy="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74" name="Google Shape;674;p15"/>
          <p:cNvCxnSpPr/>
          <p:nvPr/>
        </p:nvCxnSpPr>
        <p:spPr>
          <a:xfrm rot="10800000">
            <a:off x="5242536" y="4055514"/>
            <a:ext cx="5836800" cy="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75" name="Google Shape;675;p15"/>
          <p:cNvCxnSpPr/>
          <p:nvPr/>
        </p:nvCxnSpPr>
        <p:spPr>
          <a:xfrm rot="10800000">
            <a:off x="5242536" y="4863715"/>
            <a:ext cx="5836800" cy="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76" name="Google Shape;676;p15"/>
          <p:cNvSpPr txBox="1"/>
          <p:nvPr>
            <p:ph idx="9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descr="Arrow: Straight with solid fill" id="677" name="Google Shape;677;p15"/>
          <p:cNvSpPr/>
          <p:nvPr/>
        </p:nvSpPr>
        <p:spPr>
          <a:xfrm flipH="1">
            <a:off x="5264249" y="1859171"/>
            <a:ext cx="355500" cy="355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678" name="Google Shape;678;p15"/>
          <p:cNvSpPr/>
          <p:nvPr/>
        </p:nvSpPr>
        <p:spPr>
          <a:xfrm flipH="1">
            <a:off x="5264249" y="2666911"/>
            <a:ext cx="355500" cy="355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679" name="Google Shape;679;p15"/>
          <p:cNvSpPr/>
          <p:nvPr/>
        </p:nvSpPr>
        <p:spPr>
          <a:xfrm flipH="1">
            <a:off x="5264249" y="3473732"/>
            <a:ext cx="355500" cy="355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680" name="Google Shape;680;p15"/>
          <p:cNvSpPr/>
          <p:nvPr/>
        </p:nvSpPr>
        <p:spPr>
          <a:xfrm flipH="1">
            <a:off x="5264249" y="4282391"/>
            <a:ext cx="355500" cy="355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681" name="Google Shape;681;p15"/>
          <p:cNvSpPr/>
          <p:nvPr/>
        </p:nvSpPr>
        <p:spPr>
          <a:xfrm flipH="1">
            <a:off x="5264249" y="5084003"/>
            <a:ext cx="355500" cy="355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2" name="Google Shape;682;p15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683" name="Google Shape;683;p15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684" name="Google Shape;684;p15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85" name="Google Shape;685;p15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86" name="Google Shape;686;p15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87" name="Google Shape;687;p15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88" name="Google Shape;688;p1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89" name="Google Shape;689;p15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690" name="Google Shape;690;p15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1" name="Google Shape;691;p15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2" name="Google Shape;692;p15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3" name="Google Shape;693;p15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94" name="Google Shape;694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5" name="Google Shape;695;p15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6" name="Google Shape;696;p15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97" name="Google Shape;697;p15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698" name="Google Shape;698;p15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9" name="Google Shape;699;p15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0" name="Google Shape;700;p15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1" name="Google Shape;701;p15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2" name="Google Shape;702;p15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03" name="Google Shape;703;p15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704" name="Google Shape;704;p15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5" name="Google Shape;705;p15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06" name="Google Shape;706;p15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07" name="Google Shape;707;p15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708" name="Google Shape;708;p15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13" name="Google Shape;713;p15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714" name="Google Shape;714;p15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16" name="Google Shape;716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7" name="Google Shape;717;p15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19" name="Google Shape;719;p15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720" name="Google Shape;720;p15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23" name="Google Shape;723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4" name="Google Shape;724;p15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26" name="Google Shape;726;p15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727" name="Google Shape;727;p15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29" name="Google Shape;729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0" name="Google Shape;730;p15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731" name="Google Shape;731;p15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33" name="Google Shape;733;p15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34" name="Google Shape;734;p15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35" name="Google Shape;735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6" name="Google Shape;736;p15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737" name="Google Shape;737;p15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38" name="Google Shape;738;p15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39" name="Google Shape;739;p15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0" name="Google Shape;740;p15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1" name="Google Shape;741;p15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42" name="Google Shape;742;p15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743" name="Google Shape;743;p15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4" name="Google Shape;744;p15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45" name="Google Shape;745;p15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46" name="Google Shape;746;p15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747" name="Google Shape;747;p15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8" name="Google Shape;748;p15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49" name="Google Shape;749;p15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0" name="Google Shape;750;p15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1" name="Google Shape;751;p15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52" name="Google Shape;752;p15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753" name="Google Shape;753;p15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4" name="Google Shape;754;p15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55" name="Google Shape;755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6" name="Google Shape;756;p15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7" name="Google Shape;757;p15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58" name="Google Shape;758;p15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759" name="Google Shape;759;p1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0" name="Google Shape;760;p1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1" name="Google Shape;761;p15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62" name="Google Shape;762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3" name="Google Shape;763;p15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4" name="Google Shape;764;p15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65" name="Google Shape;765;p15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7" name="Google Shape;767;p15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68" name="Google Shape;768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6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71" name="Google Shape;771;p16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72" name="Google Shape;772;p16"/>
          <p:cNvSpPr txBox="1"/>
          <p:nvPr>
            <p:ph idx="3" type="body"/>
          </p:nvPr>
        </p:nvSpPr>
        <p:spPr>
          <a:xfrm>
            <a:off x="813514" y="2249093"/>
            <a:ext cx="33120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3BA2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A3BA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73" name="Google Shape;773;p16"/>
          <p:cNvSpPr txBox="1"/>
          <p:nvPr>
            <p:ph idx="4" type="body"/>
          </p:nvPr>
        </p:nvSpPr>
        <p:spPr>
          <a:xfrm>
            <a:off x="4823917" y="2249092"/>
            <a:ext cx="60915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74" name="Google Shape;774;p16"/>
          <p:cNvSpPr txBox="1"/>
          <p:nvPr>
            <p:ph idx="5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775" name="Google Shape;775;p16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776" name="Google Shape;776;p16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777" name="Google Shape;777;p16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8" name="Google Shape;778;p16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9" name="Google Shape;779;p16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0" name="Google Shape;780;p16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81" name="Google Shape;781;p16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82" name="Google Shape;782;p16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783" name="Google Shape;783;p16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4" name="Google Shape;784;p16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5" name="Google Shape;785;p16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6" name="Google Shape;786;p16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87" name="Google Shape;787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8" name="Google Shape;788;p16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9" name="Google Shape;789;p16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90" name="Google Shape;790;p16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791" name="Google Shape;791;p16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92" name="Google Shape;792;p16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93" name="Google Shape;793;p16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94" name="Google Shape;794;p16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95" name="Google Shape;795;p16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96" name="Google Shape;796;p16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797" name="Google Shape;797;p16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98" name="Google Shape;798;p16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99" name="Google Shape;799;p16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800" name="Google Shape;800;p16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801" name="Google Shape;801;p16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02" name="Google Shape;802;p16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03" name="Google Shape;803;p16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04" name="Google Shape;804;p16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05" name="Google Shape;805;p16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06" name="Google Shape;806;p16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807" name="Google Shape;807;p16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08" name="Google Shape;808;p16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09" name="Google Shape;809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" name="Google Shape;810;p16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1" name="Google Shape;811;p16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12" name="Google Shape;812;p16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813" name="Google Shape;813;p16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4" name="Google Shape;814;p16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5" name="Google Shape;815;p16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16" name="Google Shape;816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7" name="Google Shape;817;p16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8" name="Google Shape;818;p16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19" name="Google Shape;819;p16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820" name="Google Shape;820;p16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21" name="Google Shape;821;p16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22" name="Google Shape;822;p1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3" name="Google Shape;823;p16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824" name="Google Shape;824;p16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25" name="Google Shape;825;p16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26" name="Google Shape;826;p16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28" name="Google Shape;828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9" name="Google Shape;829;p16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830" name="Google Shape;830;p16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31" name="Google Shape;831;p16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32" name="Google Shape;832;p16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33" name="Google Shape;833;p16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34" name="Google Shape;834;p16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35" name="Google Shape;835;p16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836" name="Google Shape;836;p16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838" name="Google Shape;838;p16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839" name="Google Shape;839;p16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840" name="Google Shape;840;p16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1" name="Google Shape;841;p16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2" name="Google Shape;842;p16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3" name="Google Shape;843;p16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4" name="Google Shape;844;p16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45" name="Google Shape;845;p16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846" name="Google Shape;846;p16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48" name="Google Shape;848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9" name="Google Shape;849;p16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51" name="Google Shape;851;p16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852" name="Google Shape;852;p1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53" name="Google Shape;853;p1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55" name="Google Shape;855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6" name="Google Shape;856;p16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57" name="Google Shape;857;p16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58" name="Google Shape;858;p16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859" name="Google Shape;859;p16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60" name="Google Shape;860;p16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61" name="Google Shape;861;p1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7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64" name="Google Shape;864;p17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65" name="Google Shape;865;p17"/>
          <p:cNvSpPr txBox="1"/>
          <p:nvPr>
            <p:ph idx="3" type="body"/>
          </p:nvPr>
        </p:nvSpPr>
        <p:spPr>
          <a:xfrm>
            <a:off x="4823917" y="2249092"/>
            <a:ext cx="60915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66" name="Google Shape;866;p17"/>
          <p:cNvSpPr txBox="1"/>
          <p:nvPr>
            <p:ph idx="4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867" name="Google Shape;867;p17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868" name="Google Shape;868;p17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869" name="Google Shape;869;p17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0" name="Google Shape;870;p17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1" name="Google Shape;871;p17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73" name="Google Shape;873;p17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74" name="Google Shape;874;p17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875" name="Google Shape;875;p17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6" name="Google Shape;876;p17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7" name="Google Shape;877;p17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8" name="Google Shape;878;p17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79" name="Google Shape;879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0" name="Google Shape;880;p17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1" name="Google Shape;881;p17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82" name="Google Shape;882;p17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883" name="Google Shape;883;p17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4" name="Google Shape;884;p17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5" name="Google Shape;885;p17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6" name="Google Shape;886;p17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7" name="Google Shape;887;p17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88" name="Google Shape;888;p17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889" name="Google Shape;889;p17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90" name="Google Shape;890;p17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891" name="Google Shape;891;p17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892" name="Google Shape;892;p17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893" name="Google Shape;893;p17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94" name="Google Shape;894;p17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95" name="Google Shape;895;p17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96" name="Google Shape;896;p17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97" name="Google Shape;897;p17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98" name="Google Shape;898;p17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899" name="Google Shape;899;p17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00" name="Google Shape;900;p17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01" name="Google Shape;901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2" name="Google Shape;902;p17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03" name="Google Shape;903;p17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04" name="Google Shape;904;p17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905" name="Google Shape;905;p17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06" name="Google Shape;906;p17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07" name="Google Shape;907;p17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08" name="Google Shape;908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9" name="Google Shape;909;p17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0" name="Google Shape;910;p17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11" name="Google Shape;911;p17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912" name="Google Shape;912;p17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3" name="Google Shape;913;p17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14" name="Google Shape;914;p1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5" name="Google Shape;915;p17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916" name="Google Shape;916;p17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7" name="Google Shape;917;p17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8" name="Google Shape;918;p17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9" name="Google Shape;919;p17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20" name="Google Shape;920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21" name="Google Shape;921;p17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922" name="Google Shape;922;p17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23" name="Google Shape;923;p17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24" name="Google Shape;924;p17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25" name="Google Shape;925;p17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26" name="Google Shape;926;p17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27" name="Google Shape;927;p17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928" name="Google Shape;928;p17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29" name="Google Shape;929;p17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930" name="Google Shape;930;p17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931" name="Google Shape;931;p17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932" name="Google Shape;932;p17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33" name="Google Shape;933;p17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34" name="Google Shape;934;p17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35" name="Google Shape;935;p17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36" name="Google Shape;936;p17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37" name="Google Shape;937;p17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938" name="Google Shape;938;p17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39" name="Google Shape;939;p17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40" name="Google Shape;940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1" name="Google Shape;941;p17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2" name="Google Shape;942;p17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43" name="Google Shape;943;p17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944" name="Google Shape;944;p17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5" name="Google Shape;945;p17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6" name="Google Shape;946;p17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47" name="Google Shape;947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8" name="Google Shape;948;p17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9" name="Google Shape;949;p17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50" name="Google Shape;950;p17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951" name="Google Shape;951;p17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52" name="Google Shape;952;p17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53" name="Google Shape;953;p1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 1">
  <p:cSld name="9_Title Slide_1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8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6" name="Google Shape;956;p18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7" name="Google Shape;957;p18"/>
          <p:cNvSpPr txBox="1"/>
          <p:nvPr>
            <p:ph idx="3" type="body"/>
          </p:nvPr>
        </p:nvSpPr>
        <p:spPr>
          <a:xfrm>
            <a:off x="4823917" y="2249092"/>
            <a:ext cx="60915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8" name="Google Shape;958;p18"/>
          <p:cNvSpPr txBox="1"/>
          <p:nvPr>
            <p:ph idx="4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959" name="Google Shape;959;p18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960" name="Google Shape;960;p18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961" name="Google Shape;961;p18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62" name="Google Shape;962;p18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63" name="Google Shape;963;p18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64" name="Google Shape;964;p18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65" name="Google Shape;965;p18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6" name="Google Shape;966;p18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967" name="Google Shape;967;p18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68" name="Google Shape;968;p18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69" name="Google Shape;969;p18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70" name="Google Shape;970;p18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71" name="Google Shape;971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2" name="Google Shape;972;p18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73" name="Google Shape;973;p18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74" name="Google Shape;974;p18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975" name="Google Shape;975;p18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76" name="Google Shape;976;p18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77" name="Google Shape;977;p18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78" name="Google Shape;978;p18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79" name="Google Shape;979;p18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80" name="Google Shape;980;p18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981" name="Google Shape;981;p18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2" name="Google Shape;982;p18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983" name="Google Shape;983;p18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984" name="Google Shape;984;p18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985" name="Google Shape;985;p18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6" name="Google Shape;986;p18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7" name="Google Shape;987;p18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8" name="Google Shape;988;p18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9" name="Google Shape;989;p18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90" name="Google Shape;990;p18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991" name="Google Shape;991;p18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2" name="Google Shape;992;p18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93" name="Google Shape;993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4" name="Google Shape;994;p18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5" name="Google Shape;995;p18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96" name="Google Shape;996;p18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997" name="Google Shape;997;p18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8" name="Google Shape;998;p18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9" name="Google Shape;999;p18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00" name="Google Shape;1000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1" name="Google Shape;1001;p18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02" name="Google Shape;1002;p18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03" name="Google Shape;1003;p18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004" name="Google Shape;1004;p18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05" name="Google Shape;1005;p18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06" name="Google Shape;1006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07" name="Google Shape;1007;p18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008" name="Google Shape;1008;p18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09" name="Google Shape;1009;p18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10" name="Google Shape;1010;p18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11" name="Google Shape;1011;p18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12" name="Google Shape;1012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13" name="Google Shape;1013;p18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014" name="Google Shape;1014;p18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15" name="Google Shape;1015;p18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16" name="Google Shape;1016;p18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17" name="Google Shape;1017;p18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18" name="Google Shape;1018;p18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19" name="Google Shape;1019;p18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020" name="Google Shape;1020;p18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21" name="Google Shape;1021;p18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022" name="Google Shape;1022;p18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023" name="Google Shape;1023;p18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024" name="Google Shape;1024;p18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25" name="Google Shape;1025;p18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26" name="Google Shape;1026;p18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27" name="Google Shape;1027;p18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28" name="Google Shape;1028;p18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29" name="Google Shape;1029;p18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030" name="Google Shape;1030;p18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31" name="Google Shape;1031;p18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32" name="Google Shape;1032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3" name="Google Shape;1033;p18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34" name="Google Shape;1034;p18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35" name="Google Shape;1035;p18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036" name="Google Shape;1036;p18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37" name="Google Shape;1037;p18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38" name="Google Shape;1038;p18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39" name="Google Shape;1039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0" name="Google Shape;1040;p18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42" name="Google Shape;1042;p18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043" name="Google Shape;1043;p18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45" name="Google Shape;1045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9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48" name="Google Shape;1048;p19"/>
          <p:cNvGrpSpPr/>
          <p:nvPr/>
        </p:nvGrpSpPr>
        <p:grpSpPr>
          <a:xfrm>
            <a:off x="8337" y="435776"/>
            <a:ext cx="6968671" cy="5990186"/>
            <a:chOff x="8337" y="435776"/>
            <a:chExt cx="6968671" cy="5990186"/>
          </a:xfrm>
        </p:grpSpPr>
        <p:sp>
          <p:nvSpPr>
            <p:cNvPr id="1049" name="Google Shape;1049;p19"/>
            <p:cNvSpPr/>
            <p:nvPr/>
          </p:nvSpPr>
          <p:spPr>
            <a:xfrm>
              <a:off x="740405" y="435776"/>
              <a:ext cx="4949074" cy="4967588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0" name="Google Shape;1050;p19"/>
            <p:cNvSpPr/>
            <p:nvPr/>
          </p:nvSpPr>
          <p:spPr>
            <a:xfrm>
              <a:off x="740399" y="435781"/>
              <a:ext cx="4780275" cy="4967588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1" name="Google Shape;1051;p19"/>
            <p:cNvSpPr/>
            <p:nvPr/>
          </p:nvSpPr>
          <p:spPr>
            <a:xfrm>
              <a:off x="8346" y="5397005"/>
              <a:ext cx="5942809" cy="1025862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2" name="Google Shape;1052;p19"/>
            <p:cNvSpPr/>
            <p:nvPr/>
          </p:nvSpPr>
          <p:spPr>
            <a:xfrm>
              <a:off x="284373" y="5639361"/>
              <a:ext cx="5423344" cy="524910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3" name="Google Shape;1053;p19"/>
            <p:cNvSpPr/>
            <p:nvPr/>
          </p:nvSpPr>
          <p:spPr>
            <a:xfrm>
              <a:off x="8337" y="435781"/>
              <a:ext cx="6968671" cy="5990181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54" name="Google Shape;1054;p19"/>
          <p:cNvSpPr txBox="1"/>
          <p:nvPr>
            <p:ph idx="1" type="body"/>
          </p:nvPr>
        </p:nvSpPr>
        <p:spPr>
          <a:xfrm>
            <a:off x="6505628" y="1211798"/>
            <a:ext cx="49461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55" name="Google Shape;1055;p19"/>
          <p:cNvSpPr txBox="1"/>
          <p:nvPr>
            <p:ph idx="2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56" name="Google Shape;105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775" y="5554397"/>
            <a:ext cx="2582976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Slide">
  <p:cSld name="17_Title Slide"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0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rgbClr val="EAEC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59" name="Google Shape;1059;p20"/>
          <p:cNvGrpSpPr/>
          <p:nvPr/>
        </p:nvGrpSpPr>
        <p:grpSpPr>
          <a:xfrm>
            <a:off x="8337" y="435849"/>
            <a:ext cx="6964608" cy="5986712"/>
            <a:chOff x="9728" y="1922335"/>
            <a:chExt cx="8126730" cy="6985662"/>
          </a:xfrm>
        </p:grpSpPr>
        <p:sp>
          <p:nvSpPr>
            <p:cNvPr id="1060" name="Google Shape;1060;p20"/>
            <p:cNvSpPr/>
            <p:nvPr/>
          </p:nvSpPr>
          <p:spPr>
            <a:xfrm>
              <a:off x="863988" y="1922335"/>
              <a:ext cx="5771515" cy="5793105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863981" y="1922341"/>
              <a:ext cx="5574665" cy="5793105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9738" y="7711657"/>
              <a:ext cx="6930390" cy="1196340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331838" y="7994465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9728" y="1922341"/>
              <a:ext cx="8126730" cy="6985634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65" name="Google Shape;1065;p20"/>
          <p:cNvSpPr txBox="1"/>
          <p:nvPr>
            <p:ph idx="1" type="body"/>
          </p:nvPr>
        </p:nvSpPr>
        <p:spPr>
          <a:xfrm>
            <a:off x="6505628" y="1211798"/>
            <a:ext cx="49461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66" name="Google Shape;1066;p20"/>
          <p:cNvSpPr txBox="1"/>
          <p:nvPr>
            <p:ph idx="2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67" name="Google Shape;106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858" y="5568090"/>
            <a:ext cx="2582893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1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0" name="Google Shape;1070;p21"/>
          <p:cNvSpPr txBox="1"/>
          <p:nvPr>
            <p:ph idx="1" type="body"/>
          </p:nvPr>
        </p:nvSpPr>
        <p:spPr>
          <a:xfrm>
            <a:off x="2295975" y="1614510"/>
            <a:ext cx="7591800" cy="29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1" name="Google Shape;1071;p21"/>
          <p:cNvSpPr txBox="1"/>
          <p:nvPr>
            <p:ph idx="2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072" name="Google Shape;1072;p21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1073" name="Google Shape;1073;p21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1074" name="Google Shape;1074;p21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78" name="Google Shape;1078;p21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79" name="Google Shape;1079;p21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1080" name="Google Shape;1080;p21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84" name="Google Shape;1084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5" name="Google Shape;1085;p21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87" name="Google Shape;1087;p21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1088" name="Google Shape;1088;p21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93" name="Google Shape;1093;p21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1094" name="Google Shape;1094;p21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096" name="Google Shape;1096;p21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097" name="Google Shape;1097;p21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1098" name="Google Shape;1098;p21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03" name="Google Shape;1103;p21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1104" name="Google Shape;1104;p21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5" name="Google Shape;1105;p21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06" name="Google Shape;1106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7" name="Google Shape;1107;p21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8" name="Google Shape;1108;p21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09" name="Google Shape;1109;p21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1110" name="Google Shape;1110;p21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13" name="Google Shape;1113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4" name="Google Shape;1114;p21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16" name="Google Shape;1116;p21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117" name="Google Shape;1117;p21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19" name="Google Shape;1119;p2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20" name="Google Shape;1120;p21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121" name="Google Shape;1121;p21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25" name="Google Shape;1125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26" name="Google Shape;1126;p21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127" name="Google Shape;1127;p21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32" name="Google Shape;1132;p21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133" name="Google Shape;1133;p21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135" name="Google Shape;1135;p21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36" name="Google Shape;1136;p21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137" name="Google Shape;1137;p21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42" name="Google Shape;1142;p21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143" name="Google Shape;1143;p21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45" name="Google Shape;1145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46" name="Google Shape;1146;p21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48" name="Google Shape;1148;p21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149" name="Google Shape;1149;p21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0" name="Google Shape;1150;p21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1" name="Google Shape;1151;p21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52" name="Google Shape;1152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3" name="Google Shape;1153;p21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4" name="Google Shape;1154;p21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55" name="Google Shape;1155;p21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156" name="Google Shape;1156;p21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7" name="Google Shape;1157;p21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58" name="Google Shape;1158;p2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59" name="Google Shape;11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21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2"/>
          <p:cNvSpPr txBox="1"/>
          <p:nvPr>
            <p:ph idx="1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63" name="Google Shape;1163;p22"/>
          <p:cNvSpPr txBox="1"/>
          <p:nvPr>
            <p:ph idx="2" type="body"/>
          </p:nvPr>
        </p:nvSpPr>
        <p:spPr>
          <a:xfrm>
            <a:off x="2295975" y="1614510"/>
            <a:ext cx="7591800" cy="29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164" name="Google Shape;1164;p22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1165" name="Google Shape;1165;p22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1166" name="Google Shape;1166;p22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70" name="Google Shape;1170;p22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71" name="Google Shape;1171;p22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1172" name="Google Shape;1172;p22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76" name="Google Shape;1176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7" name="Google Shape;1177;p22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79" name="Google Shape;1179;p22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1180" name="Google Shape;1180;p22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83" name="Google Shape;1183;p22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84" name="Google Shape;1184;p22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85" name="Google Shape;1185;p22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1186" name="Google Shape;1186;p22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87" name="Google Shape;1187;p22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188" name="Google Shape;1188;p22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89" name="Google Shape;1189;p22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1190" name="Google Shape;1190;p22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94" name="Google Shape;1194;p22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95" name="Google Shape;1195;p22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1196" name="Google Shape;1196;p22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97" name="Google Shape;1197;p22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198" name="Google Shape;1198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9" name="Google Shape;1199;p22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01" name="Google Shape;1201;p22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05" name="Google Shape;1205;p2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6" name="Google Shape;1206;p22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08" name="Google Shape;1208;p22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209" name="Google Shape;1209;p22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11" name="Google Shape;1211;p2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12" name="Google Shape;1212;p22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213" name="Google Shape;1213;p22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17" name="Google Shape;1217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18" name="Google Shape;1218;p22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219" name="Google Shape;1219;p22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24" name="Google Shape;1224;p22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225" name="Google Shape;1225;p22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227" name="Google Shape;1227;p22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228" name="Google Shape;1228;p22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229" name="Google Shape;1229;p22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34" name="Google Shape;1234;p22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235" name="Google Shape;1235;p22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37" name="Google Shape;1237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8" name="Google Shape;1238;p22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40" name="Google Shape;1240;p22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241" name="Google Shape;1241;p22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44" name="Google Shape;1244;p2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5" name="Google Shape;1245;p22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46" name="Google Shape;1246;p22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47" name="Google Shape;1247;p22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248" name="Google Shape;1248;p22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50" name="Google Shape;1250;p2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>
  <p:cSld name="15_Title Slide"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23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rgbClr val="4815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3" name="Google Shape;1253;p23"/>
          <p:cNvSpPr txBox="1"/>
          <p:nvPr/>
        </p:nvSpPr>
        <p:spPr>
          <a:xfrm>
            <a:off x="4043999" y="2761025"/>
            <a:ext cx="40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4000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000">
              <a:solidFill>
                <a:srgbClr val="FFA8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4" name="Google Shape;1254;p23"/>
          <p:cNvSpPr txBox="1"/>
          <p:nvPr/>
        </p:nvSpPr>
        <p:spPr>
          <a:xfrm>
            <a:off x="6924350" y="5397300"/>
            <a:ext cx="476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750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https://interledger.org/es/</a:t>
            </a:r>
            <a:r>
              <a:rPr b="1" lang="en-MY" sz="1750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Hackathon</a:t>
            </a:r>
            <a:endParaRPr b="1" sz="175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750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#OpenPayments </a:t>
            </a:r>
            <a:r>
              <a:rPr b="1" lang="en-MY" sz="1750">
                <a:solidFill>
                  <a:srgbClr val="FFA915"/>
                </a:solidFill>
                <a:latin typeface="Poppins"/>
                <a:ea typeface="Poppins"/>
                <a:cs typeface="Poppins"/>
                <a:sym typeface="Poppins"/>
              </a:rPr>
              <a:t>#ILPHacks</a:t>
            </a:r>
            <a:endParaRPr b="1" sz="175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5" name="Google Shape;1255;p23"/>
          <p:cNvSpPr/>
          <p:nvPr/>
        </p:nvSpPr>
        <p:spPr>
          <a:xfrm>
            <a:off x="8346" y="5397298"/>
            <a:ext cx="5942809" cy="1025862"/>
          </a:xfrm>
          <a:custGeom>
            <a:rect b="b" l="l" r="r" t="t"/>
            <a:pathLst>
              <a:path extrusionOk="0" h="1196340" w="6930390">
                <a:moveTo>
                  <a:pt x="6930385" y="0"/>
                </a:moveTo>
                <a:lnTo>
                  <a:pt x="0" y="0"/>
                </a:lnTo>
                <a:lnTo>
                  <a:pt x="0" y="1195974"/>
                </a:lnTo>
                <a:lnTo>
                  <a:pt x="6930385" y="1195974"/>
                </a:lnTo>
                <a:lnTo>
                  <a:pt x="6930385" y="0"/>
                </a:lnTo>
                <a:close/>
              </a:path>
            </a:pathLst>
          </a:custGeom>
          <a:solidFill>
            <a:srgbClr val="FFA91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6" name="Google Shape;1256;p23"/>
          <p:cNvSpPr/>
          <p:nvPr/>
        </p:nvSpPr>
        <p:spPr>
          <a:xfrm>
            <a:off x="284386" y="5639664"/>
            <a:ext cx="5423344" cy="524910"/>
          </a:xfrm>
          <a:custGeom>
            <a:rect b="b" l="l" r="r" t="t"/>
            <a:pathLst>
              <a:path extrusionOk="0" h="612140" w="6324600">
                <a:moveTo>
                  <a:pt x="394309" y="305930"/>
                </a:moveTo>
                <a:lnTo>
                  <a:pt x="0" y="0"/>
                </a:lnTo>
                <a:lnTo>
                  <a:pt x="0" y="611860"/>
                </a:lnTo>
                <a:lnTo>
                  <a:pt x="394309" y="305930"/>
                </a:lnTo>
                <a:close/>
              </a:path>
              <a:path extrusionOk="0" h="612140" w="6324600">
                <a:moveTo>
                  <a:pt x="933411" y="305930"/>
                </a:moveTo>
                <a:lnTo>
                  <a:pt x="539115" y="0"/>
                </a:lnTo>
                <a:lnTo>
                  <a:pt x="539115" y="611860"/>
                </a:lnTo>
                <a:lnTo>
                  <a:pt x="933411" y="305930"/>
                </a:lnTo>
                <a:close/>
              </a:path>
              <a:path extrusionOk="0" h="612140" w="6324600">
                <a:moveTo>
                  <a:pt x="1472526" y="305930"/>
                </a:moveTo>
                <a:lnTo>
                  <a:pt x="1078217" y="0"/>
                </a:lnTo>
                <a:lnTo>
                  <a:pt x="1078217" y="611860"/>
                </a:lnTo>
                <a:lnTo>
                  <a:pt x="1472526" y="305930"/>
                </a:lnTo>
                <a:close/>
              </a:path>
              <a:path extrusionOk="0" h="612140" w="6324600">
                <a:moveTo>
                  <a:pt x="2011629" y="305930"/>
                </a:moveTo>
                <a:lnTo>
                  <a:pt x="1617332" y="0"/>
                </a:lnTo>
                <a:lnTo>
                  <a:pt x="1617332" y="611860"/>
                </a:lnTo>
                <a:lnTo>
                  <a:pt x="2011629" y="305930"/>
                </a:lnTo>
                <a:close/>
              </a:path>
              <a:path extrusionOk="0" h="612140" w="6324600">
                <a:moveTo>
                  <a:pt x="2550744" y="305930"/>
                </a:moveTo>
                <a:lnTo>
                  <a:pt x="2156434" y="0"/>
                </a:lnTo>
                <a:lnTo>
                  <a:pt x="2156434" y="611860"/>
                </a:lnTo>
                <a:lnTo>
                  <a:pt x="2550744" y="305930"/>
                </a:lnTo>
                <a:close/>
              </a:path>
              <a:path extrusionOk="0" h="612140" w="6324600">
                <a:moveTo>
                  <a:pt x="3089846" y="305930"/>
                </a:moveTo>
                <a:lnTo>
                  <a:pt x="2695549" y="0"/>
                </a:lnTo>
                <a:lnTo>
                  <a:pt x="2695549" y="611860"/>
                </a:lnTo>
                <a:lnTo>
                  <a:pt x="3089846" y="305930"/>
                </a:lnTo>
                <a:close/>
              </a:path>
              <a:path extrusionOk="0" h="612140" w="6324600">
                <a:moveTo>
                  <a:pt x="3628961" y="305930"/>
                </a:moveTo>
                <a:lnTo>
                  <a:pt x="3234664" y="0"/>
                </a:lnTo>
                <a:lnTo>
                  <a:pt x="3234664" y="611860"/>
                </a:lnTo>
                <a:lnTo>
                  <a:pt x="3628961" y="305930"/>
                </a:lnTo>
                <a:close/>
              </a:path>
              <a:path extrusionOk="0" h="612140" w="6324600">
                <a:moveTo>
                  <a:pt x="4168063" y="305930"/>
                </a:moveTo>
                <a:lnTo>
                  <a:pt x="3773767" y="0"/>
                </a:lnTo>
                <a:lnTo>
                  <a:pt x="3773767" y="611860"/>
                </a:lnTo>
                <a:lnTo>
                  <a:pt x="4168063" y="305930"/>
                </a:lnTo>
                <a:close/>
              </a:path>
              <a:path extrusionOk="0" h="612140" w="6324600">
                <a:moveTo>
                  <a:pt x="4707179" y="305930"/>
                </a:moveTo>
                <a:lnTo>
                  <a:pt x="4312882" y="0"/>
                </a:lnTo>
                <a:lnTo>
                  <a:pt x="4312882" y="611860"/>
                </a:lnTo>
                <a:lnTo>
                  <a:pt x="4707179" y="305930"/>
                </a:lnTo>
                <a:close/>
              </a:path>
              <a:path extrusionOk="0" h="612140" w="6324600">
                <a:moveTo>
                  <a:pt x="5246281" y="305930"/>
                </a:moveTo>
                <a:lnTo>
                  <a:pt x="4851984" y="0"/>
                </a:lnTo>
                <a:lnTo>
                  <a:pt x="4851984" y="611860"/>
                </a:lnTo>
                <a:lnTo>
                  <a:pt x="5246281" y="305930"/>
                </a:lnTo>
                <a:close/>
              </a:path>
              <a:path extrusionOk="0" h="612140" w="6324600">
                <a:moveTo>
                  <a:pt x="5785396" y="305930"/>
                </a:moveTo>
                <a:lnTo>
                  <a:pt x="5391099" y="0"/>
                </a:lnTo>
                <a:lnTo>
                  <a:pt x="5391099" y="611860"/>
                </a:lnTo>
                <a:lnTo>
                  <a:pt x="5785396" y="305930"/>
                </a:lnTo>
                <a:close/>
              </a:path>
              <a:path extrusionOk="0" h="612140" w="6324600">
                <a:moveTo>
                  <a:pt x="6324498" y="305930"/>
                </a:moveTo>
                <a:lnTo>
                  <a:pt x="5930201" y="0"/>
                </a:lnTo>
                <a:lnTo>
                  <a:pt x="5930201" y="611860"/>
                </a:lnTo>
                <a:lnTo>
                  <a:pt x="6324498" y="305930"/>
                </a:lnTo>
                <a:close/>
              </a:path>
            </a:pathLst>
          </a:custGeom>
          <a:solidFill>
            <a:srgbClr val="56077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7" name="Google Shape;1257;p23"/>
          <p:cNvSpPr/>
          <p:nvPr/>
        </p:nvSpPr>
        <p:spPr>
          <a:xfrm>
            <a:off x="8337" y="435854"/>
            <a:ext cx="6968671" cy="5990181"/>
          </a:xfrm>
          <a:custGeom>
            <a:rect b="b" l="l" r="r" t="t"/>
            <a:pathLst>
              <a:path extrusionOk="0" h="6985634" w="8126730">
                <a:moveTo>
                  <a:pt x="854252" y="0"/>
                </a:moveTo>
                <a:lnTo>
                  <a:pt x="0" y="0"/>
                </a:lnTo>
                <a:lnTo>
                  <a:pt x="0" y="211988"/>
                </a:lnTo>
                <a:lnTo>
                  <a:pt x="854252" y="211988"/>
                </a:lnTo>
                <a:lnTo>
                  <a:pt x="854252" y="0"/>
                </a:lnTo>
                <a:close/>
              </a:path>
              <a:path extrusionOk="0" h="6985634" w="8126730">
                <a:moveTo>
                  <a:pt x="854265" y="5596331"/>
                </a:moveTo>
                <a:lnTo>
                  <a:pt x="12" y="5596331"/>
                </a:lnTo>
                <a:lnTo>
                  <a:pt x="12" y="5792660"/>
                </a:lnTo>
                <a:lnTo>
                  <a:pt x="854265" y="5792660"/>
                </a:lnTo>
                <a:lnTo>
                  <a:pt x="854265" y="5596331"/>
                </a:lnTo>
                <a:close/>
              </a:path>
              <a:path extrusionOk="0" h="6985634" w="8126730">
                <a:moveTo>
                  <a:pt x="854265" y="5165839"/>
                </a:moveTo>
                <a:lnTo>
                  <a:pt x="12" y="5165839"/>
                </a:lnTo>
                <a:lnTo>
                  <a:pt x="12" y="5363375"/>
                </a:lnTo>
                <a:lnTo>
                  <a:pt x="854265" y="5363375"/>
                </a:lnTo>
                <a:lnTo>
                  <a:pt x="854265" y="5165839"/>
                </a:lnTo>
                <a:close/>
              </a:path>
              <a:path extrusionOk="0" h="6985634" w="8126730">
                <a:moveTo>
                  <a:pt x="854265" y="4735360"/>
                </a:moveTo>
                <a:lnTo>
                  <a:pt x="12" y="4735360"/>
                </a:lnTo>
                <a:lnTo>
                  <a:pt x="12" y="4934102"/>
                </a:lnTo>
                <a:lnTo>
                  <a:pt x="854265" y="4934102"/>
                </a:lnTo>
                <a:lnTo>
                  <a:pt x="854265" y="4735360"/>
                </a:lnTo>
                <a:close/>
              </a:path>
              <a:path extrusionOk="0" h="6985634" w="8126730">
                <a:moveTo>
                  <a:pt x="854265" y="4304881"/>
                </a:moveTo>
                <a:lnTo>
                  <a:pt x="12" y="4304881"/>
                </a:lnTo>
                <a:lnTo>
                  <a:pt x="12" y="4504817"/>
                </a:lnTo>
                <a:lnTo>
                  <a:pt x="854265" y="4504817"/>
                </a:lnTo>
                <a:lnTo>
                  <a:pt x="854265" y="4304881"/>
                </a:lnTo>
                <a:close/>
              </a:path>
              <a:path extrusionOk="0" h="6985634" w="8126730">
                <a:moveTo>
                  <a:pt x="854265" y="3874389"/>
                </a:moveTo>
                <a:lnTo>
                  <a:pt x="12" y="3874389"/>
                </a:lnTo>
                <a:lnTo>
                  <a:pt x="12" y="4075531"/>
                </a:lnTo>
                <a:lnTo>
                  <a:pt x="854265" y="4075531"/>
                </a:lnTo>
                <a:lnTo>
                  <a:pt x="854265" y="3874389"/>
                </a:lnTo>
                <a:close/>
              </a:path>
              <a:path extrusionOk="0" h="6985634" w="8126730">
                <a:moveTo>
                  <a:pt x="854265" y="3443897"/>
                </a:moveTo>
                <a:lnTo>
                  <a:pt x="12" y="3443897"/>
                </a:lnTo>
                <a:lnTo>
                  <a:pt x="12" y="3646246"/>
                </a:lnTo>
                <a:lnTo>
                  <a:pt x="854265" y="3646246"/>
                </a:lnTo>
                <a:lnTo>
                  <a:pt x="854265" y="3443897"/>
                </a:lnTo>
                <a:close/>
              </a:path>
              <a:path extrusionOk="0" h="6985634" w="8126730">
                <a:moveTo>
                  <a:pt x="854265" y="3013405"/>
                </a:moveTo>
                <a:lnTo>
                  <a:pt x="12" y="3013405"/>
                </a:lnTo>
                <a:lnTo>
                  <a:pt x="12" y="3216960"/>
                </a:lnTo>
                <a:lnTo>
                  <a:pt x="854265" y="3216960"/>
                </a:lnTo>
                <a:lnTo>
                  <a:pt x="854265" y="3013405"/>
                </a:lnTo>
                <a:close/>
              </a:path>
              <a:path extrusionOk="0" h="6985634" w="8126730">
                <a:moveTo>
                  <a:pt x="854265" y="2582926"/>
                </a:moveTo>
                <a:lnTo>
                  <a:pt x="12" y="2582926"/>
                </a:lnTo>
                <a:lnTo>
                  <a:pt x="12" y="2787688"/>
                </a:lnTo>
                <a:lnTo>
                  <a:pt x="854265" y="2787688"/>
                </a:lnTo>
                <a:lnTo>
                  <a:pt x="854265" y="2582926"/>
                </a:lnTo>
                <a:close/>
              </a:path>
              <a:path extrusionOk="0" h="6985634" w="8126730">
                <a:moveTo>
                  <a:pt x="854265" y="2152434"/>
                </a:moveTo>
                <a:lnTo>
                  <a:pt x="12" y="2152434"/>
                </a:lnTo>
                <a:lnTo>
                  <a:pt x="12" y="2358402"/>
                </a:lnTo>
                <a:lnTo>
                  <a:pt x="854265" y="2358402"/>
                </a:lnTo>
                <a:lnTo>
                  <a:pt x="854265" y="2152434"/>
                </a:lnTo>
                <a:close/>
              </a:path>
              <a:path extrusionOk="0" h="6985634" w="8126730">
                <a:moveTo>
                  <a:pt x="854265" y="1721942"/>
                </a:moveTo>
                <a:lnTo>
                  <a:pt x="12" y="1721942"/>
                </a:lnTo>
                <a:lnTo>
                  <a:pt x="12" y="1929117"/>
                </a:lnTo>
                <a:lnTo>
                  <a:pt x="854265" y="1929117"/>
                </a:lnTo>
                <a:lnTo>
                  <a:pt x="854265" y="1721942"/>
                </a:lnTo>
                <a:close/>
              </a:path>
              <a:path extrusionOk="0" h="6985634" w="8126730">
                <a:moveTo>
                  <a:pt x="854265" y="1291463"/>
                </a:moveTo>
                <a:lnTo>
                  <a:pt x="12" y="1291463"/>
                </a:lnTo>
                <a:lnTo>
                  <a:pt x="12" y="1499831"/>
                </a:lnTo>
                <a:lnTo>
                  <a:pt x="854265" y="1499831"/>
                </a:lnTo>
                <a:lnTo>
                  <a:pt x="854265" y="1291463"/>
                </a:lnTo>
                <a:close/>
              </a:path>
              <a:path extrusionOk="0" h="6985634" w="8126730">
                <a:moveTo>
                  <a:pt x="854265" y="860983"/>
                </a:moveTo>
                <a:lnTo>
                  <a:pt x="12" y="860983"/>
                </a:lnTo>
                <a:lnTo>
                  <a:pt x="12" y="1070559"/>
                </a:lnTo>
                <a:lnTo>
                  <a:pt x="854265" y="1070559"/>
                </a:lnTo>
                <a:lnTo>
                  <a:pt x="854265" y="860983"/>
                </a:lnTo>
                <a:close/>
              </a:path>
              <a:path extrusionOk="0" h="6985634" w="8126730">
                <a:moveTo>
                  <a:pt x="854265" y="430491"/>
                </a:moveTo>
                <a:lnTo>
                  <a:pt x="12" y="430491"/>
                </a:lnTo>
                <a:lnTo>
                  <a:pt x="12" y="641273"/>
                </a:lnTo>
                <a:lnTo>
                  <a:pt x="854265" y="641273"/>
                </a:lnTo>
                <a:lnTo>
                  <a:pt x="854265" y="430491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789320"/>
                </a:lnTo>
                <a:lnTo>
                  <a:pt x="6930390" y="584168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935827"/>
                </a:lnTo>
                <a:lnTo>
                  <a:pt x="6930390" y="5984633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082322"/>
                </a:lnTo>
                <a:lnTo>
                  <a:pt x="6930390" y="6127585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228829"/>
                </a:lnTo>
                <a:lnTo>
                  <a:pt x="6930390" y="6270536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375349"/>
                </a:lnTo>
                <a:lnTo>
                  <a:pt x="6930390" y="6413487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521844"/>
                </a:lnTo>
                <a:lnTo>
                  <a:pt x="6930390" y="6556438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668351"/>
                </a:lnTo>
                <a:lnTo>
                  <a:pt x="6930390" y="669940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814858"/>
                </a:lnTo>
                <a:lnTo>
                  <a:pt x="6930390" y="6842341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961365"/>
                </a:lnTo>
                <a:lnTo>
                  <a:pt x="6930390" y="6985292"/>
                </a:lnTo>
                <a:lnTo>
                  <a:pt x="8126362" y="5789320"/>
                </a:lnTo>
                <a:close/>
              </a:path>
            </a:pathLst>
          </a:custGeom>
          <a:solidFill>
            <a:srgbClr val="90A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8" name="Google Shape;12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1" name="Google Shape;1261;p24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62" name="Google Shape;1262;p24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263" name="Google Shape;1263;p24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64" name="Google Shape;1264;p24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65" name="Google Shape;1265;p24"/>
          <p:cNvSpPr txBox="1"/>
          <p:nvPr>
            <p:ph idx="4" type="body"/>
          </p:nvPr>
        </p:nvSpPr>
        <p:spPr>
          <a:xfrm>
            <a:off x="2408168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266" name="Google Shape;126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7" name="Google Shape;1267;p24"/>
          <p:cNvGrpSpPr/>
          <p:nvPr/>
        </p:nvGrpSpPr>
        <p:grpSpPr>
          <a:xfrm>
            <a:off x="0" y="5218448"/>
            <a:ext cx="2600439" cy="385344"/>
            <a:chOff x="0" y="9303775"/>
            <a:chExt cx="8073390" cy="1196350"/>
          </a:xfrm>
        </p:grpSpPr>
        <p:sp>
          <p:nvSpPr>
            <p:cNvPr id="1268" name="Google Shape;1268;p24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71" name="Google Shape;1271;p24"/>
          <p:cNvGrpSpPr/>
          <p:nvPr/>
        </p:nvGrpSpPr>
        <p:grpSpPr>
          <a:xfrm>
            <a:off x="6344628" y="487055"/>
            <a:ext cx="5847372" cy="5116588"/>
            <a:chOff x="6344628" y="928827"/>
            <a:chExt cx="5847372" cy="5116588"/>
          </a:xfrm>
        </p:grpSpPr>
        <p:sp>
          <p:nvSpPr>
            <p:cNvPr id="1272" name="Google Shape;1272;p24"/>
            <p:cNvSpPr/>
            <p:nvPr/>
          </p:nvSpPr>
          <p:spPr>
            <a:xfrm flipH="1">
              <a:off x="6344628" y="928827"/>
              <a:ext cx="5092675" cy="5111615"/>
            </a:xfrm>
            <a:custGeom>
              <a:rect b="b" l="l" r="r" t="t"/>
              <a:pathLst>
                <a:path extrusionOk="0" h="7026275" w="7000240">
                  <a:moveTo>
                    <a:pt x="0" y="0"/>
                  </a:moveTo>
                  <a:lnTo>
                    <a:pt x="0" y="7025843"/>
                  </a:lnTo>
                  <a:lnTo>
                    <a:pt x="7000062" y="3498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67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73" name="Google Shape;1273;p24"/>
            <p:cNvSpPr/>
            <p:nvPr/>
          </p:nvSpPr>
          <p:spPr>
            <a:xfrm flipH="1">
              <a:off x="6518328" y="933582"/>
              <a:ext cx="4918977" cy="5111615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74" name="Google Shape;1274;p24"/>
            <p:cNvSpPr/>
            <p:nvPr/>
          </p:nvSpPr>
          <p:spPr>
            <a:xfrm flipH="1">
              <a:off x="11438075" y="933582"/>
              <a:ext cx="753922" cy="5108381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275" name="Google Shape;1275;p24"/>
            <p:cNvPicPr preferRelativeResize="0"/>
            <p:nvPr/>
          </p:nvPicPr>
          <p:blipFill rotWithShape="1">
            <a:blip r:embed="rId3">
              <a:alphaModFix/>
            </a:blip>
            <a:srcRect b="2856" l="0" r="0" t="0"/>
            <a:stretch/>
          </p:blipFill>
          <p:spPr>
            <a:xfrm flipH="1">
              <a:off x="6813518" y="1877725"/>
              <a:ext cx="5314701" cy="4125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24"/>
            <p:cNvSpPr/>
            <p:nvPr/>
          </p:nvSpPr>
          <p:spPr>
            <a:xfrm flipH="1">
              <a:off x="7022230" y="5871298"/>
              <a:ext cx="5169770" cy="174117"/>
            </a:xfrm>
            <a:custGeom>
              <a:rect b="b" l="l" r="r" t="t"/>
              <a:pathLst>
                <a:path extrusionOk="0" h="1450975" w="8406130">
                  <a:moveTo>
                    <a:pt x="8405774" y="0"/>
                  </a:moveTo>
                  <a:lnTo>
                    <a:pt x="0" y="0"/>
                  </a:lnTo>
                  <a:lnTo>
                    <a:pt x="12" y="1450581"/>
                  </a:lnTo>
                  <a:lnTo>
                    <a:pt x="8405774" y="1450581"/>
                  </a:lnTo>
                  <a:lnTo>
                    <a:pt x="840577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 (h6c9ce94544da898c_16_0)"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25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79" name="Google Shape;1279;p25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777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777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0" name="Google Shape;1280;p25"/>
          <p:cNvSpPr/>
          <p:nvPr>
            <p:ph idx="3" type="pic"/>
          </p:nvPr>
        </p:nvSpPr>
        <p:spPr>
          <a:xfrm>
            <a:off x="401921" y="1491414"/>
            <a:ext cx="4320000" cy="4320000"/>
          </a:xfrm>
          <a:prstGeom prst="roundRect">
            <a:avLst>
              <a:gd fmla="val 188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81" name="Google Shape;1281;p25"/>
          <p:cNvSpPr txBox="1"/>
          <p:nvPr>
            <p:ph idx="4" type="body"/>
          </p:nvPr>
        </p:nvSpPr>
        <p:spPr>
          <a:xfrm>
            <a:off x="5688471" y="180099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2" name="Google Shape;1282;p25"/>
          <p:cNvSpPr txBox="1"/>
          <p:nvPr>
            <p:ph idx="5" type="body"/>
          </p:nvPr>
        </p:nvSpPr>
        <p:spPr>
          <a:xfrm>
            <a:off x="5688471" y="260873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3" name="Google Shape;1283;p25"/>
          <p:cNvSpPr txBox="1"/>
          <p:nvPr>
            <p:ph idx="6" type="body"/>
          </p:nvPr>
        </p:nvSpPr>
        <p:spPr>
          <a:xfrm>
            <a:off x="5688471" y="341647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4" name="Google Shape;1284;p25"/>
          <p:cNvSpPr txBox="1"/>
          <p:nvPr>
            <p:ph idx="7" type="body"/>
          </p:nvPr>
        </p:nvSpPr>
        <p:spPr>
          <a:xfrm>
            <a:off x="5688471" y="422421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5" name="Google Shape;1285;p25"/>
          <p:cNvSpPr txBox="1"/>
          <p:nvPr>
            <p:ph idx="8" type="body"/>
          </p:nvPr>
        </p:nvSpPr>
        <p:spPr>
          <a:xfrm>
            <a:off x="5688471" y="503195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6" name="Google Shape;1286;p25"/>
          <p:cNvSpPr txBox="1"/>
          <p:nvPr>
            <p:ph idx="9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://interledger.org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://interledger.org" TargetMode="Externa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29225" y="295100"/>
            <a:ext cx="1972325" cy="5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29225" y="295100"/>
            <a:ext cx="1972325" cy="5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3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1.png"/><Relationship Id="rId9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6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MY"/>
              <a:t>Convite</a:t>
            </a:r>
            <a:endParaRPr/>
          </a:p>
        </p:txBody>
      </p:sp>
      <p:sp>
        <p:nvSpPr>
          <p:cNvPr id="1292" name="Google Shape;1292;p26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MY"/>
              <a:t>LasCaux</a:t>
            </a:r>
            <a:endParaRPr/>
          </a:p>
        </p:txBody>
      </p:sp>
      <p:sp>
        <p:nvSpPr>
          <p:cNvPr id="1293" name="Google Shape;1293;p26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-MY"/>
              <a:t>FECHA:</a:t>
            </a:r>
            <a:br>
              <a:rPr lang="en-MY"/>
            </a:br>
            <a:r>
              <a:rPr lang="en-MY"/>
              <a:t>17 Octubre 2026</a:t>
            </a:r>
            <a:endParaRPr/>
          </a:p>
        </p:txBody>
      </p:sp>
      <p:sp>
        <p:nvSpPr>
          <p:cNvPr id="1294" name="Google Shape;1294;p26"/>
          <p:cNvSpPr txBox="1"/>
          <p:nvPr>
            <p:ph idx="4" type="body"/>
          </p:nvPr>
        </p:nvSpPr>
        <p:spPr>
          <a:xfrm>
            <a:off x="2408178" y="6031225"/>
            <a:ext cx="27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-MY"/>
              <a:t>CIUDAD: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/>
              <a:t>Medellín, Antioquia, Colombia.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9" name="Google Shape;1299;p27"/>
          <p:cNvCxnSpPr/>
          <p:nvPr/>
        </p:nvCxnSpPr>
        <p:spPr>
          <a:xfrm rot="10800000">
            <a:off x="5242536" y="2439114"/>
            <a:ext cx="5836800" cy="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00" name="Google Shape;1300;p27"/>
          <p:cNvCxnSpPr/>
          <p:nvPr/>
        </p:nvCxnSpPr>
        <p:spPr>
          <a:xfrm rot="10800000">
            <a:off x="5242536" y="3247313"/>
            <a:ext cx="5836800" cy="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01" name="Google Shape;1301;p27"/>
          <p:cNvCxnSpPr/>
          <p:nvPr/>
        </p:nvCxnSpPr>
        <p:spPr>
          <a:xfrm rot="10800000">
            <a:off x="5242536" y="4055514"/>
            <a:ext cx="5836800" cy="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descr="Arrow: Straight with solid fill" id="1302" name="Google Shape;1302;p27"/>
          <p:cNvSpPr/>
          <p:nvPr/>
        </p:nvSpPr>
        <p:spPr>
          <a:xfrm flipH="1">
            <a:off x="5264249" y="1859171"/>
            <a:ext cx="355500" cy="355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1303" name="Google Shape;1303;p27"/>
          <p:cNvSpPr/>
          <p:nvPr/>
        </p:nvSpPr>
        <p:spPr>
          <a:xfrm flipH="1">
            <a:off x="5264249" y="2666911"/>
            <a:ext cx="355500" cy="355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1304" name="Google Shape;1304;p27"/>
          <p:cNvSpPr/>
          <p:nvPr/>
        </p:nvSpPr>
        <p:spPr>
          <a:xfrm flipH="1">
            <a:off x="5264249" y="3473732"/>
            <a:ext cx="355500" cy="355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1305" name="Google Shape;1305;p27"/>
          <p:cNvSpPr/>
          <p:nvPr/>
        </p:nvSpPr>
        <p:spPr>
          <a:xfrm flipH="1">
            <a:off x="5264249" y="4282391"/>
            <a:ext cx="355500" cy="355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6" name="Google Shape;1306;p27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1307" name="Google Shape;1307;p27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1308" name="Google Shape;1308;p27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09" name="Google Shape;1309;p27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10" name="Google Shape;1310;p27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11" name="Google Shape;1311;p27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12" name="Google Shape;1312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13" name="Google Shape;1313;p27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1314" name="Google Shape;1314;p27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15" name="Google Shape;1315;p27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16" name="Google Shape;1316;p27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17" name="Google Shape;1317;p27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18" name="Google Shape;1318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9" name="Google Shape;1319;p27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20" name="Google Shape;1320;p27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21" name="Google Shape;1321;p27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1322" name="Google Shape;1322;p27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23" name="Google Shape;1323;p27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24" name="Google Shape;1324;p27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25" name="Google Shape;1325;p27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26" name="Google Shape;1326;p27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27" name="Google Shape;1327;p27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1328" name="Google Shape;1328;p27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29" name="Google Shape;1329;p27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330" name="Google Shape;1330;p27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331" name="Google Shape;1331;p27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1332" name="Google Shape;1332;p27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3" name="Google Shape;1333;p27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4" name="Google Shape;1334;p27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5" name="Google Shape;1335;p27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6" name="Google Shape;1336;p27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37" name="Google Shape;1337;p27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1338" name="Google Shape;1338;p27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9" name="Google Shape;1339;p27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40" name="Google Shape;1340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1" name="Google Shape;1341;p27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42" name="Google Shape;1342;p27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43" name="Google Shape;1343;p27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1344" name="Google Shape;1344;p27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45" name="Google Shape;1345;p27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46" name="Google Shape;1346;p27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47" name="Google Shape;1347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8" name="Google Shape;1348;p27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49" name="Google Shape;1349;p27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50" name="Google Shape;1350;p27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351" name="Google Shape;1351;p27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52" name="Google Shape;1352;p27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53" name="Google Shape;1353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54" name="Google Shape;1354;p27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355" name="Google Shape;1355;p27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56" name="Google Shape;1356;p27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57" name="Google Shape;1357;p27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58" name="Google Shape;1358;p27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59" name="Google Shape;1359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60" name="Google Shape;1360;p27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361" name="Google Shape;1361;p27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62" name="Google Shape;1362;p27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63" name="Google Shape;1363;p27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64" name="Google Shape;1364;p27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65" name="Google Shape;1365;p27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66" name="Google Shape;1366;p27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367" name="Google Shape;1367;p27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68" name="Google Shape;1368;p27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369" name="Google Shape;1369;p27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370" name="Google Shape;1370;p27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371" name="Google Shape;1371;p27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72" name="Google Shape;1372;p27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73" name="Google Shape;1373;p27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74" name="Google Shape;1374;p27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75" name="Google Shape;1375;p27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76" name="Google Shape;1376;p27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377" name="Google Shape;1377;p27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78" name="Google Shape;1378;p27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79" name="Google Shape;1379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0" name="Google Shape;1380;p27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81" name="Google Shape;1381;p27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82" name="Google Shape;1382;p27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383" name="Google Shape;1383;p27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84" name="Google Shape;1384;p27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85" name="Google Shape;1385;p27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86" name="Google Shape;1386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7" name="Google Shape;1387;p27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88" name="Google Shape;1388;p27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89" name="Google Shape;1389;p27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390" name="Google Shape;1390;p27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91" name="Google Shape;1391;p27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92" name="Google Shape;1392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393" name="Google Shape;1393;p27"/>
          <p:cNvSpPr txBox="1"/>
          <p:nvPr>
            <p:ph idx="1" type="body"/>
          </p:nvPr>
        </p:nvSpPr>
        <p:spPr>
          <a:xfrm>
            <a:off x="271253" y="8637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 sz="1600"/>
              <a:t>Cuatro personas, un problema y una idea</a:t>
            </a:r>
            <a:endParaRPr/>
          </a:p>
        </p:txBody>
      </p:sp>
      <p:sp>
        <p:nvSpPr>
          <p:cNvPr id="1394" name="Google Shape;1394;p27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>
                <a:solidFill>
                  <a:srgbClr val="560676"/>
                </a:solidFill>
              </a:rPr>
              <a:t>INTRODUCCIÓN DEL EQUIPO</a:t>
            </a:r>
            <a:endParaRPr/>
          </a:p>
        </p:txBody>
      </p:sp>
      <p:sp>
        <p:nvSpPr>
          <p:cNvPr id="1395" name="Google Shape;1395;p27"/>
          <p:cNvSpPr txBox="1"/>
          <p:nvPr>
            <p:ph idx="4" type="body"/>
          </p:nvPr>
        </p:nvSpPr>
        <p:spPr>
          <a:xfrm>
            <a:off x="5688471" y="180099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MY"/>
              <a:t>Carlos Eduardo Betancur Molina</a:t>
            </a:r>
            <a:endParaRPr/>
          </a:p>
        </p:txBody>
      </p:sp>
      <p:sp>
        <p:nvSpPr>
          <p:cNvPr id="1396" name="Google Shape;1396;p27"/>
          <p:cNvSpPr txBox="1"/>
          <p:nvPr>
            <p:ph idx="5" type="body"/>
          </p:nvPr>
        </p:nvSpPr>
        <p:spPr>
          <a:xfrm>
            <a:off x="5688471" y="260873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>
                <a:solidFill>
                  <a:schemeClr val="dk1"/>
                </a:solidFill>
              </a:rPr>
              <a:t>Juan Jose Zapata Moreno</a:t>
            </a:r>
            <a:endParaRPr/>
          </a:p>
        </p:txBody>
      </p:sp>
      <p:sp>
        <p:nvSpPr>
          <p:cNvPr id="1397" name="Google Shape;1397;p27"/>
          <p:cNvSpPr txBox="1"/>
          <p:nvPr>
            <p:ph idx="6" type="body"/>
          </p:nvPr>
        </p:nvSpPr>
        <p:spPr>
          <a:xfrm>
            <a:off x="5688471" y="341647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>
                <a:solidFill>
                  <a:schemeClr val="dk1"/>
                </a:solidFill>
              </a:rPr>
              <a:t>Samuel Botero Rivera</a:t>
            </a:r>
            <a:endParaRPr/>
          </a:p>
        </p:txBody>
      </p:sp>
      <p:sp>
        <p:nvSpPr>
          <p:cNvPr id="1398" name="Google Shape;1398;p27"/>
          <p:cNvSpPr txBox="1"/>
          <p:nvPr>
            <p:ph idx="7" type="body"/>
          </p:nvPr>
        </p:nvSpPr>
        <p:spPr>
          <a:xfrm>
            <a:off x="5688471" y="422421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>
                <a:solidFill>
                  <a:schemeClr val="dk1"/>
                </a:solidFill>
              </a:rPr>
              <a:t>Juan Camilo López Morales</a:t>
            </a:r>
            <a:endParaRPr/>
          </a:p>
        </p:txBody>
      </p:sp>
      <p:pic>
        <p:nvPicPr>
          <p:cNvPr id="1399" name="Foto del equipo LasCaux" descr="equipo.jpg"/>
          <p:cNvPicPr>
            <a:picLocks noChangeAspect="1"/>
          </p:cNvPicPr>
          <p:nvPr/>
        </p:nvPicPr>
        <p:blipFill>
          <a:blip r:embed="rId9"/>
          <a:srcRect t="23438" b="1328"/>
          <a:stretch>
            <a:fillRect/>
          </a:stretch>
        </p:blipFill>
        <p:spPr>
          <a:xfrm>
            <a:off x="401921" y="1491414"/>
            <a:ext cx="4320000" cy="432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28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 sz="2000"/>
              <a:t>Una economía informal que ya funciona y que ayuda a la comunidad</a:t>
            </a:r>
            <a:endParaRPr/>
          </a:p>
        </p:txBody>
      </p:sp>
      <p:sp>
        <p:nvSpPr>
          <p:cNvPr id="1405" name="Google Shape;1405;p28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b="1"/>
              <a:t>PLANTEAMIENTO DEL PROBLEMA</a:t>
            </a:r>
            <a:endParaRPr/>
          </a:p>
        </p:txBody>
      </p:sp>
      <p:sp>
        <p:nvSpPr>
          <p:cNvPr id="1406" name="Rounded Rectangle 1405"/>
          <p:cNvSpPr/>
          <p:nvPr/>
        </p:nvSpPr>
        <p:spPr>
          <a:xfrm>
            <a:off x="2196600" y="1850000"/>
            <a:ext cx="3750000" cy="1500000"/>
          </a:xfrm>
          <a:prstGeom prst="roundRect">
            <a:avLst>
              <a:gd name="adj" fmla="val 10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60000" bIns="60000"/>
          <a:lstStyle/>
          <a:p>
            <a:pPr algn="l"/>
            <a:r>
              <a:rPr sz="4000" b="1">
                <a:solidFill>
                  <a:srgbClr val="FFA915"/>
                </a:solidFill>
                <a:latin typeface="Poppins ExtraBold"/>
              </a:rPr>
              <a:t>+1.500</a:t>
            </a:r>
          </a:p>
          <a:p>
            <a:pPr algn="l"/>
            <a:r>
              <a:rPr sz="1800">
                <a:solidFill>
                  <a:srgbClr val="FFFFFF"/>
                </a:solidFill>
                <a:latin typeface="Poppins"/>
              </a:rPr>
              <a:t>círculos solidarios en Medellín</a:t>
            </a:r>
          </a:p>
        </p:txBody>
      </p:sp>
      <p:sp>
        <p:nvSpPr>
          <p:cNvPr id="1407" name="Rounded Rectangle 1406"/>
          <p:cNvSpPr/>
          <p:nvPr/>
        </p:nvSpPr>
        <p:spPr>
          <a:xfrm>
            <a:off x="6245400" y="1850000"/>
            <a:ext cx="3750000" cy="1500000"/>
          </a:xfrm>
          <a:prstGeom prst="roundRect">
            <a:avLst>
              <a:gd name="adj" fmla="val 10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60000" bIns="60000"/>
          <a:lstStyle/>
          <a:p>
            <a:pPr algn="l"/>
            <a:r>
              <a:rPr sz="4000" b="1">
                <a:solidFill>
                  <a:srgbClr val="FFA915"/>
                </a:solidFill>
                <a:latin typeface="Poppins ExtraBold"/>
              </a:rPr>
              <a:t>$7.400 millones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Poppins"/>
              </a:rPr>
              <a:t>al día en microtransacciones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2196600" y="3560000"/>
            <a:ext cx="77988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1000"/>
              </a:spcAft>
              <a:buClr>
                <a:srgbClr val="560777"/>
              </a:buClr>
              <a:buFont typeface="Arial"/>
              <a:buChar char="•"/>
            </a:pPr>
            <a:r>
              <a:rPr sz="2000" b="1">
                <a:solidFill>
                  <a:srgbClr val="560777"/>
                </a:solidFill>
                <a:latin typeface="Poppins"/>
              </a:rPr>
              <a:t>Mueve la economía y fortalece la comunidad: </a:t>
            </a:r>
            <a:r>
              <a:rPr sz="2000" b="0">
                <a:solidFill>
                  <a:srgbClr val="1A1A1A"/>
                </a:solidFill>
                <a:latin typeface="Poppins"/>
              </a:rPr>
              <a:t>son efectos que ya se conocen y se han probado.</a:t>
            </a:r>
          </a:p>
          <a:p>
            <a:pPr marL="285750" indent="-285750">
              <a:lnSpc>
                <a:spcPct val="110000"/>
              </a:lnSpc>
              <a:spcAft>
                <a:spcPts val="1000"/>
              </a:spcAft>
              <a:buClr>
                <a:srgbClr val="560777"/>
              </a:buClr>
              <a:buFont typeface="Arial"/>
              <a:buChar char="•"/>
            </a:pPr>
            <a:r>
              <a:rPr sz="2000" b="1">
                <a:solidFill>
                  <a:srgbClr val="560777"/>
                </a:solidFill>
                <a:latin typeface="Poppins"/>
              </a:rPr>
              <a:t>La usan </a:t>
            </a:r>
            <a:r>
              <a:rPr sz="2000" b="0">
                <a:solidFill>
                  <a:srgbClr val="1A1A1A"/>
                </a:solidFill>
                <a:latin typeface="Poppins"/>
              </a:rPr>
              <a:t>jóvenes emprendedores, madres cabeza de familia (cerca del 90 %), adultos mayores y familias en el exterior.</a:t>
            </a:r>
          </a:p>
          <a:p>
            <a:pPr marL="285750" indent="-285750">
              <a:lnSpc>
                <a:spcPct val="110000"/>
              </a:lnSpc>
              <a:spcAft>
                <a:spcPts val="1000"/>
              </a:spcAft>
              <a:buClr>
                <a:srgbClr val="560777"/>
              </a:buClr>
              <a:buFont typeface="Arial"/>
              <a:buChar char="•"/>
            </a:pPr>
            <a:r>
              <a:rPr sz="2000" b="1">
                <a:solidFill>
                  <a:srgbClr val="560777"/>
                </a:solidFill>
                <a:latin typeface="Poppins"/>
              </a:rPr>
              <a:t>Falta una plataforma </a:t>
            </a:r>
            <a:r>
              <a:rPr sz="2000" b="0">
                <a:solidFill>
                  <a:srgbClr val="1A1A1A"/>
                </a:solidFill>
                <a:latin typeface="Poppins"/>
              </a:rPr>
              <a:t>sobre la cual puedan crecer, con trazabilidad y acceso para más personas.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/>
          <p:nvPr>
            <p:ph idx="2" type="body"/>
          </p:nvPr>
        </p:nvSpPr>
        <p:spPr>
          <a:xfrm>
            <a:off x="1516225" y="1614500"/>
            <a:ext cx="9155700" cy="29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b="1">
                <a:latin typeface="Poppins ExtraBold"/>
              </a:rPr>
              <a:t>El ahorro comunitario ya funciona. Convite lo lleva a la red.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30"/>
          <p:cNvSpPr txBox="1"/>
          <p:nvPr>
            <p:ph idx="1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b="1">
                <a:latin typeface="Poppins ExtraBold"/>
              </a:rPr>
              <a:t>Más trazabilidad, más transparencia y acceso para mucha más gente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31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 sz="2000"/>
              <a:t>Cómo Convite resuelve el reto</a:t>
            </a:r>
            <a:endParaRPr/>
          </a:p>
        </p:txBody>
      </p:sp>
      <p:sp>
        <p:nvSpPr>
          <p:cNvPr id="1422" name="Google Shape;1422;p31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b="1"/>
              <a:t>LA SOLUCIÓN</a:t>
            </a:r>
            <a:endParaRPr/>
          </a:p>
        </p:txBody>
      </p:sp>
      <p:sp>
        <p:nvSpPr>
          <p:cNvPr id="1423" name="Rounded Rectangle 1422"/>
          <p:cNvSpPr/>
          <p:nvPr/>
        </p:nvSpPr>
        <p:spPr>
          <a:xfrm>
            <a:off x="2196600" y="1950000"/>
            <a:ext cx="2450000" cy="2650000"/>
          </a:xfrm>
          <a:prstGeom prst="roundRect">
            <a:avLst>
              <a:gd name="adj" fmla="val 8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000" rIns="190000" tIns="170000" bIns="120000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A915"/>
                </a:solidFill>
                <a:latin typeface="Poppins ExtraBold"/>
              </a:rPr>
              <a:t>ENTRA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Poppins"/>
              </a:rPr>
              <a:t>Cada persona aporta desde su billetera y en su moneda.</a:t>
            </a:r>
          </a:p>
        </p:txBody>
      </p:sp>
      <p:sp>
        <p:nvSpPr>
          <p:cNvPr id="1424" name="Rounded Rectangle 1423"/>
          <p:cNvSpPr/>
          <p:nvPr/>
        </p:nvSpPr>
        <p:spPr>
          <a:xfrm>
            <a:off x="4871000" y="1950000"/>
            <a:ext cx="2450000" cy="2650000"/>
          </a:xfrm>
          <a:prstGeom prst="roundRect">
            <a:avLst>
              <a:gd name="adj" fmla="val 8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000" rIns="190000" tIns="170000" bIns="120000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A915"/>
                </a:solidFill>
                <a:latin typeface="Poppins ExtraBold"/>
              </a:rPr>
              <a:t>SE VE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Poppins"/>
              </a:rPr>
              <a:t>Todos ven la caja, el libro y la parte de cada quien.</a:t>
            </a:r>
          </a:p>
        </p:txBody>
      </p:sp>
      <p:sp>
        <p:nvSpPr>
          <p:cNvPr id="1425" name="Rounded Rectangle 1424"/>
          <p:cNvSpPr/>
          <p:nvPr/>
        </p:nvSpPr>
        <p:spPr>
          <a:xfrm>
            <a:off x="7545400" y="1950000"/>
            <a:ext cx="2450000" cy="2650000"/>
          </a:xfrm>
          <a:prstGeom prst="roundRect">
            <a:avLst>
              <a:gd name="adj" fmla="val 8000"/>
            </a:avLst>
          </a:prstGeom>
          <a:solidFill>
            <a:srgbClr val="560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000" rIns="190000" tIns="170000" bIns="120000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A915"/>
                </a:solidFill>
                <a:latin typeface="Poppins ExtraBold"/>
              </a:rPr>
              <a:t>SALE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Poppins"/>
              </a:rPr>
              <a:t>La plata sale cuando el grupo aprueba: la mitad, la mayoría o todos.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2196600" y="4850000"/>
            <a:ext cx="7798800" cy="1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560777"/>
                </a:solidFill>
                <a:latin typeface="Poppins"/>
              </a:rPr>
              <a:t>Natilleras, cadenas y círculos solidarios </a:t>
            </a:r>
            <a:r>
              <a:rPr sz="1900" b="0">
                <a:solidFill>
                  <a:srgbClr val="1A1A1A"/>
                </a:solidFill>
                <a:latin typeface="Poppins"/>
              </a:rPr>
              <a:t>sobre Open Payments (Interledger).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560777"/>
                </a:solidFill>
                <a:latin typeface="Poppins"/>
              </a:rPr>
              <a:t>Convite coordina; no guarda el dinero.</a:t>
            </a:r>
            <a:r>
              <a:rPr sz="1900" b="0">
                <a:solidFill>
                  <a:srgbClr val="1A1A1A"/>
                </a:solidFill>
                <a:latin typeface="Poppins"/>
              </a:rPr>
              <a:t> Hoy funciona con billeteras de prueba.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32"/>
          <p:cNvSpPr txBox="1"/>
          <p:nvPr>
            <p:ph idx="1" type="body"/>
          </p:nvPr>
        </p:nvSpPr>
        <p:spPr>
          <a:xfrm>
            <a:off x="6505625" y="1814321"/>
            <a:ext cx="4946100" cy="22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MY" b="1"/>
              <a:t>DEMO EN VIDEO</a:t>
            </a:r>
            <a:endParaRPr/>
          </a:p>
        </p:txBody>
      </p:sp>
      <p:sp>
        <p:nvSpPr>
          <p:cNvPr id="1429" name="TextBox 1428"/>
          <p:cNvSpPr txBox="1"/>
          <p:nvPr/>
        </p:nvSpPr>
        <p:spPr>
          <a:xfrm>
            <a:off x="6505625" y="4211421"/>
            <a:ext cx="49461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FA915"/>
                </a:solidFill>
                <a:latin typeface="Poppins ExtraBold"/>
              </a:rPr>
              <a:t>El pago, paso a paso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Poppins"/>
              </a:rPr>
              <a:t>Solicitud, autorización, ejecución y éxito (43 s)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33"/>
          <p:cNvSpPr txBox="1"/>
          <p:nvPr>
            <p:ph idx="1" type="body"/>
          </p:nvPr>
        </p:nvSpPr>
        <p:spPr>
          <a:xfrm>
            <a:off x="6082625" y="1010298"/>
            <a:ext cx="5329200" cy="3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3200" b="1">
                <a:solidFill>
                  <a:srgbClr val="560777"/>
                </a:solidFill>
                <a:latin typeface="Poppins"/>
              </a:rPr>
              <a:t>Un problema,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60777"/>
                </a:solidFill>
                <a:latin typeface="Poppins"/>
              </a:rPr>
              <a:t>una idea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60777"/>
                </a:solidFill>
                <a:latin typeface="Poppins"/>
              </a:rPr>
              <a:t>y un equipo.</a:t>
            </a:r>
          </a:p>
          <a:p>
            <a:pPr algn="ctr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</a:pPr>
            <a:r>
              <a:rPr sz="2200" b="0">
                <a:solidFill>
                  <a:srgbClr val="560777"/>
                </a:solidFill>
                <a:latin typeface="Poppins"/>
              </a:rPr>
              <a:t>La comunidad está lista.</a:t>
            </a:r>
          </a:p>
          <a:p>
            <a:pPr algn="ctr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</a:pPr>
            <a:r>
              <a:rPr sz="3200" b="1">
                <a:solidFill>
                  <a:srgbClr val="560777"/>
                </a:solidFill>
                <a:latin typeface="Poppins"/>
              </a:rPr>
              <a:t>¿Ustedes también?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21" name="Google Shape;1421;p31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 sz="2000"/>
              <a:t>Un pago, de la solicitud al éxito</a:t>
            </a:r>
            <a:endParaRPr/>
          </a:p>
        </p:txBody>
      </p:sp>
      <p:sp>
        <p:nvSpPr>
          <p:cNvPr id="1422" name="Google Shape;1422;p31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b="1"/>
              <a:t>DEMO</a:t>
            </a:r>
            <a:endParaRPr/>
          </a:p>
        </p:txBody>
      </p:sp>
      <p:pic>
        <p:nvPicPr>
          <p:cNvPr id="1423" name="convite-demo-pago-v6-e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96000" y="1220000"/>
            <a:ext cx="9000000" cy="50625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7" fill="hold" display="0">
                  <p:stCondLst>
                    <p:cond delay="indefinite"/>
                    <p:cond evt="onBegin" delay="0">
                      <p:tn val="2"/>
                    </p:cond>
                  </p:stCondLst>
                </p:cTn>
                <p:tgtEl>
                  <p:spTgt spid="142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21" name="Google Shape;1421;p31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 sz="2000"/>
              <a:t>Lo que sigue</a:t>
            </a:r>
            <a:endParaRPr/>
          </a:p>
        </p:txBody>
      </p:sp>
      <p:sp>
        <p:nvSpPr>
          <p:cNvPr id="1422" name="Google Shape;1422;p31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b="1"/>
              <a:t>PRÓXIMOS PASOS</a:t>
            </a:r>
            <a:endParaRPr/>
          </a:p>
        </p:txBody>
      </p:sp>
      <p:sp>
        <p:nvSpPr>
          <p:cNvPr id="1423" name="TextBox 1422"/>
          <p:cNvSpPr txBox="1"/>
          <p:nvPr/>
        </p:nvSpPr>
        <p:spPr>
          <a:xfrm>
            <a:off x="2196600" y="1900000"/>
            <a:ext cx="77988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1000"/>
              </a:spcAft>
              <a:buClr>
                <a:srgbClr val="560777"/>
              </a:buClr>
              <a:buFont typeface="Arial"/>
              <a:buChar char="•"/>
            </a:pPr>
            <a:r>
              <a:rPr sz="2000" b="1">
                <a:solidFill>
                  <a:srgbClr val="560777"/>
                </a:solidFill>
                <a:latin typeface="Poppins"/>
              </a:rPr>
              <a:t>Custodia de la caja: </a:t>
            </a:r>
            <a:r>
              <a:rPr sz="2000" b="0">
                <a:solidFill>
                  <a:srgbClr val="1A1A1A"/>
                </a:solidFill>
                <a:latin typeface="Poppins"/>
              </a:rPr>
              <a:t>con una entidad vigilada (Decreto 1357/2018) o una cuenta con varias firmas.</a:t>
            </a:r>
          </a:p>
          <a:p>
            <a:pPr marL="285750" indent="-285750">
              <a:lnSpc>
                <a:spcPct val="110000"/>
              </a:lnSpc>
              <a:spcAft>
                <a:spcPts val="1000"/>
              </a:spcAft>
              <a:buClr>
                <a:srgbClr val="560777"/>
              </a:buClr>
              <a:buFont typeface="Arial"/>
              <a:buChar char="•"/>
            </a:pPr>
            <a:r>
              <a:rPr sz="2000" b="1">
                <a:solidFill>
                  <a:srgbClr val="560777"/>
                </a:solidFill>
                <a:latin typeface="Poppins"/>
              </a:rPr>
              <a:t>Verificar cada aporte </a:t>
            </a:r>
            <a:r>
              <a:rPr sz="2000" b="0">
                <a:solidFill>
                  <a:srgbClr val="1A1A1A"/>
                </a:solidFill>
                <a:latin typeface="Poppins"/>
              </a:rPr>
              <a:t>en la billetera de la caja, para que el saldo no dependa solo del libro.</a:t>
            </a:r>
          </a:p>
          <a:p>
            <a:pPr marL="285750" indent="-285750">
              <a:lnSpc>
                <a:spcPct val="110000"/>
              </a:lnSpc>
              <a:spcAft>
                <a:spcPts val="1000"/>
              </a:spcAft>
              <a:buClr>
                <a:srgbClr val="560777"/>
              </a:buClr>
              <a:buFont typeface="Arial"/>
              <a:buChar char="•"/>
            </a:pPr>
            <a:r>
              <a:rPr sz="2000" b="1">
                <a:solidFill>
                  <a:srgbClr val="560777"/>
                </a:solidFill>
                <a:latin typeface="Poppins"/>
              </a:rPr>
              <a:t>Intereses y préstamos: </a:t>
            </a:r>
            <a:r>
              <a:rPr sz="2000" b="0">
                <a:solidFill>
                  <a:srgbClr val="1A1A1A"/>
                </a:solidFill>
                <a:latin typeface="Poppins"/>
              </a:rPr>
              <a:t>con reglas claras y protección de datos (habeas data).</a:t>
            </a:r>
          </a:p>
          <a:p>
            <a:pPr marL="285750" indent="-285750">
              <a:lnSpc>
                <a:spcPct val="110000"/>
              </a:lnSpc>
              <a:spcAft>
                <a:spcPts val="1000"/>
              </a:spcAft>
              <a:buClr>
                <a:srgbClr val="560777"/>
              </a:buClr>
              <a:buFont typeface="Arial"/>
              <a:buChar char="•"/>
            </a:pPr>
            <a:r>
              <a:rPr sz="2000" b="1">
                <a:solidFill>
                  <a:srgbClr val="560777"/>
                </a:solidFill>
                <a:latin typeface="Poppins"/>
              </a:rPr>
              <a:t>Identidad y app móvil: </a:t>
            </a:r>
            <a:r>
              <a:rPr sz="2000" b="0">
                <a:solidFill>
                  <a:srgbClr val="1A1A1A"/>
                </a:solidFill>
                <a:latin typeface="Poppins"/>
              </a:rPr>
              <a:t>verificación de identidad y notificaciones.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61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8156E"/>
      </a:accent1>
      <a:accent2>
        <a:srgbClr val="FFB259"/>
      </a:accent2>
      <a:accent3>
        <a:srgbClr val="959FF9"/>
      </a:accent3>
      <a:accent4>
        <a:srgbClr val="7EDFC8"/>
      </a:accent4>
      <a:accent5>
        <a:srgbClr val="747474"/>
      </a:accent5>
      <a:accent6>
        <a:srgbClr val="D8D8D8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61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8156E"/>
      </a:accent1>
      <a:accent2>
        <a:srgbClr val="FFB259"/>
      </a:accent2>
      <a:accent3>
        <a:srgbClr val="959FF9"/>
      </a:accent3>
      <a:accent4>
        <a:srgbClr val="7EDFC8"/>
      </a:accent4>
      <a:accent5>
        <a:srgbClr val="747474"/>
      </a:accent5>
      <a:accent6>
        <a:srgbClr val="D8D8D8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